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3" r:id="rId2"/>
    <p:sldId id="269" r:id="rId3"/>
    <p:sldId id="280" r:id="rId4"/>
    <p:sldId id="290" r:id="rId5"/>
    <p:sldId id="261" r:id="rId6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</p:sldIdLst>
  <p:sldSz cx="12192000" cy="6858000"/>
  <p:notesSz cx="6858000" cy="9144000"/>
  <p:embeddedFontLst>
    <p:embeddedFont>
      <p:font typeface="Malgun Gothic" panose="020B0503020000020004" pitchFamily="34" charset="-127"/>
      <p:regular r:id="rId9"/>
      <p:bold r:id="rId10"/>
    </p:embeddedFont>
    <p:embeddedFont>
      <p:font typeface="Microsoft YaHei UI Light" panose="020B0502040204020203" pitchFamily="34" charset="-122"/>
      <p:regular r:id="rId11"/>
    </p:embeddedFont>
    <p:embeddedFont>
      <p:font typeface="Segoe UI" panose="020B0502040204020203" pitchFamily="34" charset="0"/>
      <p:regular r:id="rId12"/>
      <p:bold r:id="rId13"/>
      <p:italic r:id="rId14"/>
      <p:boldItalic r:id="rId15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EBEA"/>
    <a:srgbClr val="0E3252"/>
    <a:srgbClr val="5AA8BA"/>
    <a:srgbClr val="E8F8F9"/>
    <a:srgbClr val="226597"/>
    <a:srgbClr val="FF6147"/>
    <a:srgbClr val="FF7058"/>
    <a:srgbClr val="FFCD3F"/>
    <a:srgbClr val="EEF8F8"/>
    <a:srgbClr val="B9E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46" autoAdjust="0"/>
    <p:restoredTop sz="96101" autoAdjust="0"/>
  </p:normalViewPr>
  <p:slideViewPr>
    <p:cSldViewPr snapToGrid="0" showGuides="1">
      <p:cViewPr varScale="1">
        <p:scale>
          <a:sx n="110" d="100"/>
          <a:sy n="110" d="100"/>
        </p:scale>
        <p:origin x="1050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398"/>
    </p:cViewPr>
  </p:sorterViewPr>
  <p:notesViewPr>
    <p:cSldViewPr snapToGrid="0" showGuides="1">
      <p:cViewPr varScale="1">
        <p:scale>
          <a:sx n="48" d="100"/>
          <a:sy n="48" d="100"/>
        </p:scale>
        <p:origin x="2696" y="2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99D16-CCE9-45A7-9B02-D3E020E56530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E9FA9-F97D-469D-B7DB-88BFEC41B1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8176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E2728-BD62-4809-994D-596D0FC30947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4383E-3682-4FAF-81D2-F3C445501F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998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放大圖檔直線排列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4383E-3682-4FAF-81D2-F3C445501F6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3138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版面配置區 2"/>
          <p:cNvSpPr>
            <a:spLocks noGrp="1"/>
          </p:cNvSpPr>
          <p:nvPr>
            <p:ph type="body" sz="quarter" idx="10" hasCustomPrompt="1"/>
          </p:nvPr>
        </p:nvSpPr>
        <p:spPr>
          <a:xfrm>
            <a:off x="1758950" y="2755400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Title </a:t>
            </a:r>
            <a:endParaRPr lang="zh-TW" altLang="en-US" dirty="0"/>
          </a:p>
        </p:txBody>
      </p:sp>
      <p:sp>
        <p:nvSpPr>
          <p:cNvPr id="11" name="文字版面配置區 2"/>
          <p:cNvSpPr>
            <a:spLocks noGrp="1"/>
          </p:cNvSpPr>
          <p:nvPr>
            <p:ph type="body" sz="quarter" idx="11" hasCustomPrompt="1"/>
          </p:nvPr>
        </p:nvSpPr>
        <p:spPr>
          <a:xfrm>
            <a:off x="1758950" y="3595441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Place for Subtitle</a:t>
            </a:r>
            <a:endParaRPr lang="zh-TW" altLang="en-US" dirty="0"/>
          </a:p>
        </p:txBody>
      </p:sp>
      <p:grpSp>
        <p:nvGrpSpPr>
          <p:cNvPr id="2" name="群組 1"/>
          <p:cNvGrpSpPr/>
          <p:nvPr userDrawn="1"/>
        </p:nvGrpSpPr>
        <p:grpSpPr>
          <a:xfrm>
            <a:off x="3820240" y="5901065"/>
            <a:ext cx="4551521" cy="956935"/>
            <a:chOff x="3790796" y="5901065"/>
            <a:chExt cx="4551521" cy="956935"/>
          </a:xfrm>
        </p:grpSpPr>
        <p:sp>
          <p:nvSpPr>
            <p:cNvPr id="15" name="文字方塊 14"/>
            <p:cNvSpPr txBox="1"/>
            <p:nvPr userDrawn="1"/>
          </p:nvSpPr>
          <p:spPr>
            <a:xfrm>
              <a:off x="3790796" y="6553200"/>
              <a:ext cx="4551521" cy="3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TW" sz="1400" dirty="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 dirty="0">
                <a:solidFill>
                  <a:srgbClr val="87C0CD"/>
                </a:solidFill>
              </a:endParaRPr>
            </a:p>
          </p:txBody>
        </p:sp>
        <p:pic>
          <p:nvPicPr>
            <p:cNvPr id="16" name="圖片 1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3479" y="5901065"/>
              <a:ext cx="866155" cy="866155"/>
            </a:xfrm>
            <a:prstGeom prst="rect">
              <a:avLst/>
            </a:prstGeom>
          </p:spPr>
        </p:pic>
      </p:grpSp>
      <p:sp>
        <p:nvSpPr>
          <p:cNvPr id="3" name="矩形 2"/>
          <p:cNvSpPr/>
          <p:nvPr userDrawn="1"/>
        </p:nvSpPr>
        <p:spPr>
          <a:xfrm>
            <a:off x="2265680" y="1943576"/>
            <a:ext cx="1183640" cy="306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88" y="1664662"/>
            <a:ext cx="1258624" cy="855325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-406" r="3038" b="50136"/>
          <a:stretch/>
        </p:blipFill>
        <p:spPr>
          <a:xfrm>
            <a:off x="1686355" y="4397391"/>
            <a:ext cx="8793684" cy="42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7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18" name="直線接點 17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群組 18"/>
          <p:cNvGrpSpPr/>
          <p:nvPr userDrawn="1"/>
        </p:nvGrpSpPr>
        <p:grpSpPr>
          <a:xfrm>
            <a:off x="4806705" y="1990773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20" name="矩形 19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2" name="群組 21"/>
          <p:cNvGrpSpPr/>
          <p:nvPr userDrawn="1"/>
        </p:nvGrpSpPr>
        <p:grpSpPr>
          <a:xfrm>
            <a:off x="4806705" y="3268915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23" name="矩形 22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5" name="群組 24"/>
          <p:cNvGrpSpPr/>
          <p:nvPr userDrawn="1"/>
        </p:nvGrpSpPr>
        <p:grpSpPr>
          <a:xfrm>
            <a:off x="4806704" y="4615096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26" name="矩形 25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31" name="文字版面配置區 2"/>
          <p:cNvSpPr>
            <a:spLocks noGrp="1"/>
          </p:cNvSpPr>
          <p:nvPr>
            <p:ph type="body" sz="quarter" idx="10" hasCustomPrompt="1"/>
          </p:nvPr>
        </p:nvSpPr>
        <p:spPr>
          <a:xfrm>
            <a:off x="5469160" y="212648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32" name="文字版面配置區 2"/>
          <p:cNvSpPr>
            <a:spLocks noGrp="1"/>
          </p:cNvSpPr>
          <p:nvPr>
            <p:ph type="body" sz="quarter" idx="11" hasCustomPrompt="1"/>
          </p:nvPr>
        </p:nvSpPr>
        <p:spPr>
          <a:xfrm>
            <a:off x="5469160" y="3389619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34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60" y="4747185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pic>
        <p:nvPicPr>
          <p:cNvPr id="33" name="圖片 3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66" name="群組 65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67" name="群組 66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71" name="矩形 70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2" name="文字方塊 71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3" name="矩形 72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74" name="圖片 73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8" name="群組 67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69" name="矩形 68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0" name="矩形 69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493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18" name="直線接點 17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群組 18"/>
          <p:cNvGrpSpPr/>
          <p:nvPr userDrawn="1"/>
        </p:nvGrpSpPr>
        <p:grpSpPr>
          <a:xfrm>
            <a:off x="4806705" y="1306122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20" name="矩形 19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2" name="群組 21"/>
          <p:cNvGrpSpPr/>
          <p:nvPr userDrawn="1"/>
        </p:nvGrpSpPr>
        <p:grpSpPr>
          <a:xfrm>
            <a:off x="4806705" y="2584264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23" name="矩形 22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5" name="群組 24"/>
          <p:cNvGrpSpPr/>
          <p:nvPr userDrawn="1"/>
        </p:nvGrpSpPr>
        <p:grpSpPr>
          <a:xfrm>
            <a:off x="4806704" y="3930445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26" name="矩形 25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8" name="群組 27"/>
          <p:cNvGrpSpPr/>
          <p:nvPr userDrawn="1"/>
        </p:nvGrpSpPr>
        <p:grpSpPr>
          <a:xfrm>
            <a:off x="4806704" y="5271522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29" name="矩形 28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4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31" name="文字版面配置區 2"/>
          <p:cNvSpPr>
            <a:spLocks noGrp="1"/>
          </p:cNvSpPr>
          <p:nvPr>
            <p:ph type="body" sz="quarter" idx="10" hasCustomPrompt="1"/>
          </p:nvPr>
        </p:nvSpPr>
        <p:spPr>
          <a:xfrm>
            <a:off x="5469160" y="1441831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32" name="文字版面配置區 2"/>
          <p:cNvSpPr>
            <a:spLocks noGrp="1"/>
          </p:cNvSpPr>
          <p:nvPr>
            <p:ph type="body" sz="quarter" idx="11" hasCustomPrompt="1"/>
          </p:nvPr>
        </p:nvSpPr>
        <p:spPr>
          <a:xfrm>
            <a:off x="5469160" y="270496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34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60" y="4062534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sp>
        <p:nvSpPr>
          <p:cNvPr id="35" name="文字版面配置區 2"/>
          <p:cNvSpPr>
            <a:spLocks noGrp="1"/>
          </p:cNvSpPr>
          <p:nvPr>
            <p:ph type="body" sz="quarter" idx="13" hasCustomPrompt="1"/>
          </p:nvPr>
        </p:nvSpPr>
        <p:spPr>
          <a:xfrm>
            <a:off x="5469160" y="541513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4</a:t>
            </a:r>
            <a:endParaRPr lang="zh-TW" altLang="en-US" dirty="0"/>
          </a:p>
        </p:txBody>
      </p:sp>
      <p:pic>
        <p:nvPicPr>
          <p:cNvPr id="33" name="圖片 3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66" name="群組 65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67" name="群組 66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71" name="矩形 70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2" name="文字方塊 71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3" name="矩形 72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74" name="圖片 73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8" name="群組 67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69" name="矩形 68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0" name="矩形 69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2871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624911" y="555410"/>
            <a:ext cx="697653" cy="697653"/>
          </a:xfrm>
          <a:prstGeom prst="rect">
            <a:avLst/>
          </a:prstGeom>
          <a:noFill/>
          <a:ln>
            <a:solidFill>
              <a:srgbClr val="C28E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3969928" y="555409"/>
            <a:ext cx="352650" cy="697653"/>
          </a:xfrm>
          <a:prstGeom prst="rect">
            <a:avLst/>
          </a:prstGeom>
          <a:noFill/>
          <a:ln>
            <a:solidFill>
              <a:srgbClr val="033B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19" name="直線接點 18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群組 19"/>
          <p:cNvGrpSpPr/>
          <p:nvPr userDrawn="1"/>
        </p:nvGrpSpPr>
        <p:grpSpPr>
          <a:xfrm>
            <a:off x="4806705" y="1410488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21" name="矩形 20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3" name="群組 22"/>
          <p:cNvGrpSpPr/>
          <p:nvPr userDrawn="1"/>
        </p:nvGrpSpPr>
        <p:grpSpPr>
          <a:xfrm>
            <a:off x="4806705" y="2348266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24" name="矩形 23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6" name="群組 25"/>
          <p:cNvGrpSpPr/>
          <p:nvPr userDrawn="1"/>
        </p:nvGrpSpPr>
        <p:grpSpPr>
          <a:xfrm>
            <a:off x="4806704" y="3286044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27" name="矩形 26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9" name="群組 28"/>
          <p:cNvGrpSpPr/>
          <p:nvPr userDrawn="1"/>
        </p:nvGrpSpPr>
        <p:grpSpPr>
          <a:xfrm>
            <a:off x="4806704" y="4223822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30" name="矩形 29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4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3" name="群組 32"/>
          <p:cNvGrpSpPr/>
          <p:nvPr userDrawn="1"/>
        </p:nvGrpSpPr>
        <p:grpSpPr>
          <a:xfrm>
            <a:off x="4806704" y="5161599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34" name="矩形 33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5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42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56" y="3366634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sp>
        <p:nvSpPr>
          <p:cNvPr id="44" name="文字版面配置區 2"/>
          <p:cNvSpPr>
            <a:spLocks noGrp="1"/>
          </p:cNvSpPr>
          <p:nvPr>
            <p:ph type="body" sz="quarter" idx="14" hasCustomPrompt="1"/>
          </p:nvPr>
        </p:nvSpPr>
        <p:spPr>
          <a:xfrm>
            <a:off x="5469156" y="2427961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45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5469156" y="1489288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46" name="文字版面配置區 2"/>
          <p:cNvSpPr>
            <a:spLocks noGrp="1"/>
          </p:cNvSpPr>
          <p:nvPr>
            <p:ph type="body" sz="quarter" idx="16" hasCustomPrompt="1"/>
          </p:nvPr>
        </p:nvSpPr>
        <p:spPr>
          <a:xfrm>
            <a:off x="5469156" y="4305307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4</a:t>
            </a:r>
            <a:endParaRPr lang="zh-TW" altLang="en-US" dirty="0"/>
          </a:p>
        </p:txBody>
      </p:sp>
      <p:sp>
        <p:nvSpPr>
          <p:cNvPr id="47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5469156" y="5243980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5</a:t>
            </a:r>
            <a:endParaRPr lang="zh-TW" altLang="en-US" dirty="0"/>
          </a:p>
        </p:txBody>
      </p:sp>
      <p:pic>
        <p:nvPicPr>
          <p:cNvPr id="36" name="圖片 3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37" name="群組 36"/>
          <p:cNvGrpSpPr/>
          <p:nvPr userDrawn="1"/>
        </p:nvGrpSpPr>
        <p:grpSpPr>
          <a:xfrm>
            <a:off x="12585492" y="-1264172"/>
            <a:ext cx="1707002" cy="800511"/>
            <a:chOff x="8600299" y="2456436"/>
            <a:chExt cx="2644376" cy="1168700"/>
          </a:xfrm>
        </p:grpSpPr>
        <p:sp>
          <p:nvSpPr>
            <p:cNvPr id="38" name="矩形 37"/>
            <p:cNvSpPr/>
            <p:nvPr userDrawn="1"/>
          </p:nvSpPr>
          <p:spPr>
            <a:xfrm>
              <a:off x="8600299" y="2456436"/>
              <a:ext cx="276324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9" name="矩形 38"/>
            <p:cNvSpPr/>
            <p:nvPr userDrawn="1"/>
          </p:nvSpPr>
          <p:spPr>
            <a:xfrm>
              <a:off x="8867483" y="2456436"/>
              <a:ext cx="276324" cy="584350"/>
            </a:xfrm>
            <a:prstGeom prst="rect">
              <a:avLst/>
            </a:prstGeom>
            <a:solidFill>
              <a:srgbClr val="1F5A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0" name="矩形 39"/>
            <p:cNvSpPr/>
            <p:nvPr userDrawn="1"/>
          </p:nvSpPr>
          <p:spPr>
            <a:xfrm>
              <a:off x="9108979" y="2456436"/>
              <a:ext cx="276324" cy="584350"/>
            </a:xfrm>
            <a:prstGeom prst="rect">
              <a:avLst/>
            </a:prstGeom>
            <a:solidFill>
              <a:srgbClr val="226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1" name="矩形 40"/>
            <p:cNvSpPr/>
            <p:nvPr userDrawn="1"/>
          </p:nvSpPr>
          <p:spPr>
            <a:xfrm>
              <a:off x="9376163" y="2456436"/>
              <a:ext cx="276324" cy="584350"/>
            </a:xfrm>
            <a:prstGeom prst="rect">
              <a:avLst/>
            </a:prstGeom>
            <a:solidFill>
              <a:srgbClr val="87C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9652766" y="2456436"/>
              <a:ext cx="276324" cy="584350"/>
            </a:xfrm>
            <a:prstGeom prst="rect">
              <a:avLst/>
            </a:prstGeom>
            <a:solidFill>
              <a:srgbClr val="CEE5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8" name="矩形 47"/>
            <p:cNvSpPr/>
            <p:nvPr userDrawn="1"/>
          </p:nvSpPr>
          <p:spPr>
            <a:xfrm>
              <a:off x="9915884" y="2456436"/>
              <a:ext cx="276324" cy="584350"/>
            </a:xfrm>
            <a:prstGeom prst="rect">
              <a:avLst/>
            </a:prstGeom>
            <a:solidFill>
              <a:srgbClr val="F3F9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9" name="矩形 48"/>
            <p:cNvSpPr/>
            <p:nvPr userDrawn="1"/>
          </p:nvSpPr>
          <p:spPr>
            <a:xfrm>
              <a:off x="10183068" y="2456436"/>
              <a:ext cx="276324" cy="584350"/>
            </a:xfrm>
            <a:prstGeom prst="rect">
              <a:avLst/>
            </a:prstGeom>
            <a:solidFill>
              <a:srgbClr val="DBF1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0" name="矩形 49"/>
            <p:cNvSpPr/>
            <p:nvPr userDrawn="1"/>
          </p:nvSpPr>
          <p:spPr>
            <a:xfrm>
              <a:off x="10424564" y="2456436"/>
              <a:ext cx="276324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1" name="矩形 50"/>
            <p:cNvSpPr/>
            <p:nvPr userDrawn="1"/>
          </p:nvSpPr>
          <p:spPr>
            <a:xfrm>
              <a:off x="10691748" y="2456436"/>
              <a:ext cx="276324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2" name="矩形 51"/>
            <p:cNvSpPr/>
            <p:nvPr userDrawn="1"/>
          </p:nvSpPr>
          <p:spPr>
            <a:xfrm>
              <a:off x="10968351" y="2456436"/>
              <a:ext cx="276324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3" name="矩形 52"/>
            <p:cNvSpPr/>
            <p:nvPr userDrawn="1"/>
          </p:nvSpPr>
          <p:spPr>
            <a:xfrm>
              <a:off x="9915884" y="3040786"/>
              <a:ext cx="276324" cy="584350"/>
            </a:xfrm>
            <a:prstGeom prst="rect">
              <a:avLst/>
            </a:prstGeom>
            <a:solidFill>
              <a:srgbClr val="FF70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4" name="矩形 53"/>
            <p:cNvSpPr/>
            <p:nvPr userDrawn="1"/>
          </p:nvSpPr>
          <p:spPr>
            <a:xfrm>
              <a:off x="10183068" y="3040786"/>
              <a:ext cx="276324" cy="584350"/>
            </a:xfrm>
            <a:prstGeom prst="rect">
              <a:avLst/>
            </a:prstGeom>
            <a:solidFill>
              <a:srgbClr val="FFCD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5" name="矩形 54"/>
            <p:cNvSpPr/>
            <p:nvPr userDrawn="1"/>
          </p:nvSpPr>
          <p:spPr>
            <a:xfrm>
              <a:off x="10424564" y="3040786"/>
              <a:ext cx="276324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6" name="矩形 55"/>
            <p:cNvSpPr/>
            <p:nvPr userDrawn="1"/>
          </p:nvSpPr>
          <p:spPr>
            <a:xfrm>
              <a:off x="10691748" y="3040786"/>
              <a:ext cx="276324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7" name="矩形 56"/>
            <p:cNvSpPr/>
            <p:nvPr userDrawn="1"/>
          </p:nvSpPr>
          <p:spPr>
            <a:xfrm>
              <a:off x="10968351" y="3040786"/>
              <a:ext cx="276324" cy="584350"/>
            </a:xfrm>
            <a:prstGeom prst="rect">
              <a:avLst/>
            </a:prstGeom>
            <a:solidFill>
              <a:srgbClr val="5AA8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8" name="矩形 57"/>
            <p:cNvSpPr/>
            <p:nvPr userDrawn="1"/>
          </p:nvSpPr>
          <p:spPr>
            <a:xfrm>
              <a:off x="8600299" y="3032247"/>
              <a:ext cx="276324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9" name="矩形 58"/>
            <p:cNvSpPr/>
            <p:nvPr userDrawn="1"/>
          </p:nvSpPr>
          <p:spPr>
            <a:xfrm>
              <a:off x="8867483" y="3032247"/>
              <a:ext cx="276324" cy="584350"/>
            </a:xfrm>
            <a:prstGeom prst="rect">
              <a:avLst/>
            </a:prstGeom>
            <a:solidFill>
              <a:srgbClr val="719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0" name="矩形 59"/>
            <p:cNvSpPr/>
            <p:nvPr userDrawn="1"/>
          </p:nvSpPr>
          <p:spPr>
            <a:xfrm>
              <a:off x="9108979" y="3032247"/>
              <a:ext cx="276324" cy="584350"/>
            </a:xfrm>
            <a:prstGeom prst="rect">
              <a:avLst/>
            </a:prstGeom>
            <a:solidFill>
              <a:srgbClr val="9EBF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1" name="矩形 60"/>
            <p:cNvSpPr/>
            <p:nvPr userDrawn="1"/>
          </p:nvSpPr>
          <p:spPr>
            <a:xfrm>
              <a:off x="9376163" y="3032247"/>
              <a:ext cx="276324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2" name="矩形 61"/>
            <p:cNvSpPr/>
            <p:nvPr userDrawn="1"/>
          </p:nvSpPr>
          <p:spPr>
            <a:xfrm>
              <a:off x="9652766" y="3032247"/>
              <a:ext cx="276324" cy="584350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63" name="群組 62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64" name="群組 63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68" name="矩形 67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9" name="文字方塊 68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70" name="矩形 69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71" name="圖片 70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5" name="群組 64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66" name="矩形 65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7" name="矩形 66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73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686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接點 14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4806705" y="1301260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19" name="矩形 18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4806705" y="2087615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24" name="矩形 23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4806704" y="2873970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29" name="矩形 28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4806704" y="3660325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34" name="矩形 33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4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4806704" y="4446680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39" name="矩形 38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5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4806704" y="5233035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44" name="矩形 43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6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46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56" y="2954140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sp>
        <p:nvSpPr>
          <p:cNvPr id="47" name="文字版面配置區 2"/>
          <p:cNvSpPr>
            <a:spLocks noGrp="1"/>
          </p:cNvSpPr>
          <p:nvPr>
            <p:ph type="body" sz="quarter" idx="14" hasCustomPrompt="1"/>
          </p:nvPr>
        </p:nvSpPr>
        <p:spPr>
          <a:xfrm>
            <a:off x="5469156" y="2167049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48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5469156" y="1379958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49" name="文字版面配置區 2"/>
          <p:cNvSpPr>
            <a:spLocks noGrp="1"/>
          </p:cNvSpPr>
          <p:nvPr>
            <p:ph type="body" sz="quarter" idx="16" hasCustomPrompt="1"/>
          </p:nvPr>
        </p:nvSpPr>
        <p:spPr>
          <a:xfrm>
            <a:off x="5469156" y="3741231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4</a:t>
            </a:r>
            <a:endParaRPr lang="zh-TW" altLang="en-US" dirty="0"/>
          </a:p>
        </p:txBody>
      </p:sp>
      <p:sp>
        <p:nvSpPr>
          <p:cNvPr id="50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5469156" y="4528322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5</a:t>
            </a:r>
            <a:endParaRPr lang="zh-TW" altLang="en-US" dirty="0"/>
          </a:p>
        </p:txBody>
      </p:sp>
      <p:sp>
        <p:nvSpPr>
          <p:cNvPr id="51" name="文字版面配置區 2"/>
          <p:cNvSpPr>
            <a:spLocks noGrp="1"/>
          </p:cNvSpPr>
          <p:nvPr>
            <p:ph type="body" sz="quarter" idx="18" hasCustomPrompt="1"/>
          </p:nvPr>
        </p:nvSpPr>
        <p:spPr>
          <a:xfrm>
            <a:off x="5469156" y="5315415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6</a:t>
            </a:r>
            <a:endParaRPr lang="zh-TW" altLang="en-US" dirty="0"/>
          </a:p>
        </p:txBody>
      </p:sp>
      <p:pic>
        <p:nvPicPr>
          <p:cNvPr id="37" name="圖片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54" name="群組 53"/>
          <p:cNvGrpSpPr/>
          <p:nvPr userDrawn="1"/>
        </p:nvGrpSpPr>
        <p:grpSpPr>
          <a:xfrm>
            <a:off x="14334163" y="1336262"/>
            <a:ext cx="514773" cy="584775"/>
            <a:chOff x="5379241" y="1837428"/>
            <a:chExt cx="514773" cy="584775"/>
          </a:xfrm>
          <a:solidFill>
            <a:srgbClr val="02303C"/>
          </a:solidFill>
        </p:grpSpPr>
        <p:sp>
          <p:nvSpPr>
            <p:cNvPr id="55" name="矩形 54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57" name="群組 56"/>
          <p:cNvGrpSpPr/>
          <p:nvPr userDrawn="1"/>
        </p:nvGrpSpPr>
        <p:grpSpPr>
          <a:xfrm>
            <a:off x="14334163" y="2614404"/>
            <a:ext cx="514773" cy="584775"/>
            <a:chOff x="5379241" y="2909840"/>
            <a:chExt cx="514773" cy="584775"/>
          </a:xfrm>
          <a:solidFill>
            <a:srgbClr val="005E67"/>
          </a:solidFill>
        </p:grpSpPr>
        <p:sp>
          <p:nvSpPr>
            <p:cNvPr id="58" name="矩形 57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60" name="群組 59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61" name="群組 60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65" name="矩形 64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6" name="文字方塊 65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7" name="矩形 66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68" name="圖片 67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2" name="群組 61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63" name="矩形 62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4" name="矩形 63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69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26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線接點 59"/>
          <p:cNvCxnSpPr>
            <a:cxnSpLocks/>
          </p:cNvCxnSpPr>
          <p:nvPr userDrawn="1"/>
        </p:nvCxnSpPr>
        <p:spPr>
          <a:xfrm>
            <a:off x="5064091" y="1080655"/>
            <a:ext cx="0" cy="5041849"/>
          </a:xfrm>
          <a:prstGeom prst="line">
            <a:avLst/>
          </a:prstGeom>
          <a:ln>
            <a:solidFill>
              <a:srgbClr val="226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群組 62"/>
          <p:cNvGrpSpPr/>
          <p:nvPr/>
        </p:nvGrpSpPr>
        <p:grpSpPr>
          <a:xfrm>
            <a:off x="4806705" y="1321137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64" name="矩形 63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4806705" y="1972419"/>
            <a:ext cx="514773" cy="584775"/>
            <a:chOff x="5379241" y="2909840"/>
            <a:chExt cx="514773" cy="584775"/>
          </a:xfrm>
          <a:solidFill>
            <a:srgbClr val="5AA8BA"/>
          </a:solidFill>
        </p:grpSpPr>
        <p:sp>
          <p:nvSpPr>
            <p:cNvPr id="69" name="矩形 68"/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5379241" y="2909840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73" name="群組 72"/>
          <p:cNvGrpSpPr/>
          <p:nvPr/>
        </p:nvGrpSpPr>
        <p:grpSpPr>
          <a:xfrm>
            <a:off x="4806704" y="2623701"/>
            <a:ext cx="516870" cy="584775"/>
            <a:chOff x="5379241" y="4122998"/>
            <a:chExt cx="516870" cy="584775"/>
          </a:xfrm>
          <a:solidFill>
            <a:srgbClr val="113F67"/>
          </a:solidFill>
        </p:grpSpPr>
        <p:sp>
          <p:nvSpPr>
            <p:cNvPr id="74" name="矩形 73"/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381338" y="412299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3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78" name="群組 77"/>
          <p:cNvGrpSpPr/>
          <p:nvPr/>
        </p:nvGrpSpPr>
        <p:grpSpPr>
          <a:xfrm>
            <a:off x="4806704" y="3274983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79" name="矩形 78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4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83" name="群組 82"/>
          <p:cNvGrpSpPr/>
          <p:nvPr/>
        </p:nvGrpSpPr>
        <p:grpSpPr>
          <a:xfrm>
            <a:off x="4806704" y="3926265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84" name="矩形 83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5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88" name="群組 87"/>
          <p:cNvGrpSpPr/>
          <p:nvPr/>
        </p:nvGrpSpPr>
        <p:grpSpPr>
          <a:xfrm>
            <a:off x="4806704" y="4577547"/>
            <a:ext cx="514774" cy="584775"/>
            <a:chOff x="5379240" y="5336156"/>
            <a:chExt cx="514774" cy="584775"/>
          </a:xfrm>
          <a:solidFill>
            <a:srgbClr val="5AA8BA"/>
          </a:solidFill>
        </p:grpSpPr>
        <p:sp>
          <p:nvSpPr>
            <p:cNvPr id="89" name="矩形 88"/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5379240" y="5336156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6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93" name="群組 92"/>
          <p:cNvGrpSpPr/>
          <p:nvPr/>
        </p:nvGrpSpPr>
        <p:grpSpPr>
          <a:xfrm>
            <a:off x="4806704" y="5228832"/>
            <a:ext cx="514773" cy="584775"/>
            <a:chOff x="5379241" y="1837428"/>
            <a:chExt cx="514773" cy="584775"/>
          </a:xfrm>
          <a:solidFill>
            <a:srgbClr val="113F67"/>
          </a:solidFill>
        </p:grpSpPr>
        <p:sp>
          <p:nvSpPr>
            <p:cNvPr id="94" name="矩形 93"/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5379241" y="1837428"/>
              <a:ext cx="51477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7</a:t>
              </a:r>
              <a:endParaRPr lang="zh-TW" altLang="en-US" sz="32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98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469156" y="2762409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3</a:t>
            </a:r>
            <a:endParaRPr lang="zh-TW" altLang="en-US" dirty="0"/>
          </a:p>
        </p:txBody>
      </p:sp>
      <p:sp>
        <p:nvSpPr>
          <p:cNvPr id="99" name="文字版面配置區 2"/>
          <p:cNvSpPr>
            <a:spLocks noGrp="1"/>
          </p:cNvSpPr>
          <p:nvPr>
            <p:ph type="body" sz="quarter" idx="14" hasCustomPrompt="1"/>
          </p:nvPr>
        </p:nvSpPr>
        <p:spPr>
          <a:xfrm>
            <a:off x="5469156" y="2112783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2</a:t>
            </a:r>
            <a:endParaRPr lang="zh-TW" altLang="en-US" dirty="0"/>
          </a:p>
        </p:txBody>
      </p:sp>
      <p:sp>
        <p:nvSpPr>
          <p:cNvPr id="100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5469156" y="1463157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1</a:t>
            </a:r>
            <a:endParaRPr lang="zh-TW" altLang="en-US" dirty="0"/>
          </a:p>
        </p:txBody>
      </p:sp>
      <p:sp>
        <p:nvSpPr>
          <p:cNvPr id="101" name="文字版面配置區 2"/>
          <p:cNvSpPr>
            <a:spLocks noGrp="1"/>
          </p:cNvSpPr>
          <p:nvPr>
            <p:ph type="body" sz="quarter" idx="16" hasCustomPrompt="1"/>
          </p:nvPr>
        </p:nvSpPr>
        <p:spPr>
          <a:xfrm>
            <a:off x="5469156" y="3412035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4</a:t>
            </a:r>
            <a:endParaRPr lang="zh-TW" altLang="en-US" dirty="0"/>
          </a:p>
        </p:txBody>
      </p:sp>
      <p:sp>
        <p:nvSpPr>
          <p:cNvPr id="102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5469156" y="4061661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5</a:t>
            </a:r>
            <a:endParaRPr lang="zh-TW" altLang="en-US" dirty="0"/>
          </a:p>
        </p:txBody>
      </p:sp>
      <p:sp>
        <p:nvSpPr>
          <p:cNvPr id="103" name="文字版面配置區 2"/>
          <p:cNvSpPr>
            <a:spLocks noGrp="1"/>
          </p:cNvSpPr>
          <p:nvPr>
            <p:ph type="body" sz="quarter" idx="18" hasCustomPrompt="1"/>
          </p:nvPr>
        </p:nvSpPr>
        <p:spPr>
          <a:xfrm>
            <a:off x="5469156" y="4711287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6</a:t>
            </a:r>
            <a:endParaRPr lang="zh-TW" altLang="en-US" dirty="0"/>
          </a:p>
        </p:txBody>
      </p:sp>
      <p:sp>
        <p:nvSpPr>
          <p:cNvPr id="104" name="文字版面配置區 2"/>
          <p:cNvSpPr>
            <a:spLocks noGrp="1"/>
          </p:cNvSpPr>
          <p:nvPr>
            <p:ph type="body" sz="quarter" idx="19" hasCustomPrompt="1"/>
          </p:nvPr>
        </p:nvSpPr>
        <p:spPr>
          <a:xfrm>
            <a:off x="5469156" y="5360912"/>
            <a:ext cx="6578125" cy="4200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7</a:t>
            </a:r>
            <a:endParaRPr lang="zh-TW" altLang="en-US" dirty="0"/>
          </a:p>
        </p:txBody>
      </p:sp>
      <p:pic>
        <p:nvPicPr>
          <p:cNvPr id="41" name="圖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50" name="群組 49"/>
          <p:cNvGrpSpPr/>
          <p:nvPr userDrawn="1"/>
        </p:nvGrpSpPr>
        <p:grpSpPr>
          <a:xfrm>
            <a:off x="0" y="0"/>
            <a:ext cx="4322578" cy="6858000"/>
            <a:chOff x="0" y="0"/>
            <a:chExt cx="4322578" cy="6858000"/>
          </a:xfrm>
        </p:grpSpPr>
        <p:grpSp>
          <p:nvGrpSpPr>
            <p:cNvPr id="51" name="群組 50"/>
            <p:cNvGrpSpPr/>
            <p:nvPr userDrawn="1"/>
          </p:nvGrpSpPr>
          <p:grpSpPr>
            <a:xfrm>
              <a:off x="0" y="0"/>
              <a:ext cx="3975947" cy="6858000"/>
              <a:chOff x="0" y="0"/>
              <a:chExt cx="3975947" cy="6858000"/>
            </a:xfrm>
          </p:grpSpPr>
          <p:sp>
            <p:nvSpPr>
              <p:cNvPr id="56" name="矩形 55"/>
              <p:cNvSpPr/>
              <p:nvPr userDrawn="1"/>
            </p:nvSpPr>
            <p:spPr>
              <a:xfrm>
                <a:off x="0" y="0"/>
                <a:ext cx="3975947" cy="6858000"/>
              </a:xfrm>
              <a:prstGeom prst="rect">
                <a:avLst/>
              </a:prstGeom>
              <a:solidFill>
                <a:srgbClr val="0E3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7" name="文字方塊 56"/>
              <p:cNvSpPr txBox="1"/>
              <p:nvPr userDrawn="1"/>
            </p:nvSpPr>
            <p:spPr>
              <a:xfrm rot="16200000">
                <a:off x="-1483239" y="2214855"/>
                <a:ext cx="432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3F9FB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 sz="2000" dirty="0">
                  <a:solidFill>
                    <a:srgbClr val="F3F9FB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8" name="矩形 57"/>
              <p:cNvSpPr/>
              <p:nvPr userDrawn="1"/>
            </p:nvSpPr>
            <p:spPr>
              <a:xfrm>
                <a:off x="0" y="6271403"/>
                <a:ext cx="1442169" cy="94891"/>
              </a:xfrm>
              <a:prstGeom prst="rect">
                <a:avLst/>
              </a:prstGeom>
              <a:solidFill>
                <a:srgbClr val="5AA8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pic>
            <p:nvPicPr>
              <p:cNvPr id="61" name="圖片 60"/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765" y="4688820"/>
                <a:ext cx="2515685" cy="129869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52" name="群組 51"/>
            <p:cNvGrpSpPr/>
            <p:nvPr userDrawn="1"/>
          </p:nvGrpSpPr>
          <p:grpSpPr>
            <a:xfrm>
              <a:off x="3624911" y="555409"/>
              <a:ext cx="697667" cy="697654"/>
              <a:chOff x="3624911" y="555409"/>
              <a:chExt cx="697667" cy="697654"/>
            </a:xfrm>
          </p:grpSpPr>
          <p:sp>
            <p:nvSpPr>
              <p:cNvPr id="54" name="矩形 53"/>
              <p:cNvSpPr/>
              <p:nvPr userDrawn="1"/>
            </p:nvSpPr>
            <p:spPr>
              <a:xfrm>
                <a:off x="3624911" y="555410"/>
                <a:ext cx="693538" cy="697653"/>
              </a:xfrm>
              <a:prstGeom prst="rect">
                <a:avLst/>
              </a:prstGeom>
              <a:no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5" name="矩形 54"/>
              <p:cNvSpPr/>
              <p:nvPr userDrawn="1"/>
            </p:nvSpPr>
            <p:spPr>
              <a:xfrm>
                <a:off x="3969928" y="555409"/>
                <a:ext cx="352650" cy="697653"/>
              </a:xfrm>
              <a:prstGeom prst="rect">
                <a:avLst/>
              </a:prstGeom>
              <a:noFill/>
              <a:ln>
                <a:solidFill>
                  <a:srgbClr val="113F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62" name="文本框 30"/>
          <p:cNvSpPr txBox="1"/>
          <p:nvPr userDrawn="1"/>
        </p:nvSpPr>
        <p:spPr>
          <a:xfrm>
            <a:off x="6453839" y="196626"/>
            <a:ext cx="241894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TW" altLang="en-US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TW" sz="3600" b="0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Agenda</a:t>
            </a:r>
            <a:endParaRPr lang="zh-TW" altLang="en-US" sz="3600" b="0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20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L - Chapter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矩形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519573" y="426482"/>
              <a:ext cx="11152855" cy="60050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6" name="圖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16" y="2358953"/>
            <a:ext cx="3109764" cy="2113306"/>
          </a:xfrm>
          <a:prstGeom prst="rect">
            <a:avLst/>
          </a:prstGeom>
        </p:spPr>
      </p:pic>
      <p:sp>
        <p:nvSpPr>
          <p:cNvPr id="7" name="文字版面配置區 12"/>
          <p:cNvSpPr>
            <a:spLocks noGrp="1"/>
          </p:cNvSpPr>
          <p:nvPr>
            <p:ph type="body" sz="quarter" idx="10" hasCustomPrompt="1"/>
          </p:nvPr>
        </p:nvSpPr>
        <p:spPr>
          <a:xfrm>
            <a:off x="4088880" y="2991516"/>
            <a:ext cx="7697848" cy="618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Chapter </a:t>
            </a:r>
            <a:r>
              <a:rPr lang="en-US" altLang="zh-TW" dirty="0" err="1"/>
              <a:t>Toptic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-406" r="3038" b="50136"/>
          <a:stretch/>
        </p:blipFill>
        <p:spPr>
          <a:xfrm>
            <a:off x="-138895" y="6175173"/>
            <a:ext cx="12404202" cy="787346"/>
          </a:xfrm>
          <a:prstGeom prst="rect">
            <a:avLst/>
          </a:prstGeom>
        </p:spPr>
      </p:pic>
      <p:sp>
        <p:nvSpPr>
          <p:cNvPr id="10" name="文字版面配置區 9"/>
          <p:cNvSpPr>
            <a:spLocks noGrp="1"/>
          </p:cNvSpPr>
          <p:nvPr>
            <p:ph type="body" sz="quarter" idx="11" hasCustomPrompt="1"/>
          </p:nvPr>
        </p:nvSpPr>
        <p:spPr>
          <a:xfrm>
            <a:off x="4089400" y="3610139"/>
            <a:ext cx="6121400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2759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L - Chapter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71"/>
          <p:cNvSpPr>
            <a:spLocks noGrp="1"/>
          </p:cNvSpPr>
          <p:nvPr>
            <p:ph type="body" sz="quarter" idx="10" hasCustomPrompt="1"/>
          </p:nvPr>
        </p:nvSpPr>
        <p:spPr>
          <a:xfrm>
            <a:off x="3808577" y="3241171"/>
            <a:ext cx="6597650" cy="5374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ELAN Haptic Pad Solution</a:t>
            </a:r>
            <a:endParaRPr lang="zh-TW" altLang="en-US" dirty="0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1672790" y="2916821"/>
            <a:ext cx="1779503" cy="1186194"/>
            <a:chOff x="1906244" y="3165569"/>
            <a:chExt cx="1406335" cy="937445"/>
          </a:xfrm>
        </p:grpSpPr>
        <p:sp>
          <p:nvSpPr>
            <p:cNvPr id="7" name="图文框 1"/>
            <p:cNvSpPr>
              <a:spLocks noChangeAspect="1"/>
            </p:cNvSpPr>
            <p:nvPr userDrawn="1"/>
          </p:nvSpPr>
          <p:spPr>
            <a:xfrm rot="10800000" flipH="1" flipV="1">
              <a:off x="2468880" y="3165569"/>
              <a:ext cx="843699" cy="937445"/>
            </a:xfrm>
            <a:custGeom>
              <a:avLst/>
              <a:gdLst/>
              <a:ahLst/>
              <a:cxnLst/>
              <a:rect l="l" t="t" r="r" b="b"/>
              <a:pathLst>
                <a:path w="3600000" h="3960440">
                  <a:moveTo>
                    <a:pt x="0" y="0"/>
                  </a:moveTo>
                  <a:lnTo>
                    <a:pt x="3600000" y="0"/>
                  </a:lnTo>
                  <a:lnTo>
                    <a:pt x="3600000" y="3960440"/>
                  </a:lnTo>
                  <a:lnTo>
                    <a:pt x="0" y="3960440"/>
                  </a:lnTo>
                  <a:lnTo>
                    <a:pt x="0" y="2988332"/>
                  </a:lnTo>
                  <a:lnTo>
                    <a:pt x="91440" y="2988332"/>
                  </a:lnTo>
                  <a:lnTo>
                    <a:pt x="91440" y="3869000"/>
                  </a:lnTo>
                  <a:lnTo>
                    <a:pt x="3508560" y="3869000"/>
                  </a:lnTo>
                  <a:lnTo>
                    <a:pt x="3508560" y="91440"/>
                  </a:lnTo>
                  <a:lnTo>
                    <a:pt x="91440" y="91440"/>
                  </a:lnTo>
                  <a:lnTo>
                    <a:pt x="91440" y="972108"/>
                  </a:lnTo>
                  <a:lnTo>
                    <a:pt x="0" y="972108"/>
                  </a:lnTo>
                  <a:close/>
                </a:path>
              </a:pathLst>
            </a:custGeom>
            <a:solidFill>
              <a:srgbClr val="3E8494"/>
            </a:solidFill>
            <a:ln>
              <a:solidFill>
                <a:srgbClr val="3E849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598">
                <a:solidFill>
                  <a:srgbClr val="226597"/>
                </a:solidFill>
              </a:endParaRPr>
            </a:p>
          </p:txBody>
        </p:sp>
        <p:pic>
          <p:nvPicPr>
            <p:cNvPr id="8" name="圖片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6244" y="3251942"/>
              <a:ext cx="1125270" cy="764701"/>
            </a:xfrm>
            <a:prstGeom prst="rect">
              <a:avLst/>
            </a:prstGeom>
          </p:spPr>
        </p:pic>
      </p:grpSp>
      <p:sp>
        <p:nvSpPr>
          <p:cNvPr id="19" name="文字版面配置區 18"/>
          <p:cNvSpPr>
            <a:spLocks noGrp="1"/>
          </p:cNvSpPr>
          <p:nvPr>
            <p:ph type="body" sz="quarter" idx="11" hasCustomPrompt="1"/>
          </p:nvPr>
        </p:nvSpPr>
        <p:spPr>
          <a:xfrm>
            <a:off x="3808577" y="3778666"/>
            <a:ext cx="4467061" cy="320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18" name="手繪多邊形 17"/>
          <p:cNvSpPr/>
          <p:nvPr userDrawn="1"/>
        </p:nvSpPr>
        <p:spPr>
          <a:xfrm>
            <a:off x="54577" y="0"/>
            <a:ext cx="1273417" cy="446395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手繪多邊形 19"/>
          <p:cNvSpPr/>
          <p:nvPr userDrawn="1"/>
        </p:nvSpPr>
        <p:spPr>
          <a:xfrm>
            <a:off x="94610" y="0"/>
            <a:ext cx="598512" cy="161507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1" name="群組 20"/>
          <p:cNvGrpSpPr/>
          <p:nvPr userDrawn="1"/>
        </p:nvGrpSpPr>
        <p:grpSpPr>
          <a:xfrm flipH="1" flipV="1">
            <a:off x="10918583" y="6411605"/>
            <a:ext cx="1273417" cy="446395"/>
            <a:chOff x="11037333" y="5969638"/>
            <a:chExt cx="1273417" cy="446395"/>
          </a:xfrm>
        </p:grpSpPr>
        <p:sp>
          <p:nvSpPr>
            <p:cNvPr id="22" name="手繪多邊形 21"/>
            <p:cNvSpPr/>
            <p:nvPr userDrawn="1"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 22"/>
            <p:cNvSpPr/>
            <p:nvPr userDrawn="1"/>
          </p:nvSpPr>
          <p:spPr>
            <a:xfrm>
              <a:off x="11077366" y="5969638"/>
              <a:ext cx="598512" cy="16150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287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9" name="群組 8"/>
          <p:cNvGrpSpPr/>
          <p:nvPr userDrawn="1"/>
        </p:nvGrpSpPr>
        <p:grpSpPr>
          <a:xfrm>
            <a:off x="494214" y="0"/>
            <a:ext cx="391111" cy="861956"/>
            <a:chOff x="488950" y="-4247"/>
            <a:chExt cx="391111" cy="861956"/>
          </a:xfrm>
        </p:grpSpPr>
        <p:sp>
          <p:nvSpPr>
            <p:cNvPr id="10" name="矩形 9"/>
            <p:cNvSpPr/>
            <p:nvPr/>
          </p:nvSpPr>
          <p:spPr>
            <a:xfrm>
              <a:off x="753421" y="210009"/>
              <a:ext cx="126640" cy="647700"/>
            </a:xfrm>
            <a:prstGeom prst="rect">
              <a:avLst/>
            </a:prstGeom>
            <a:solidFill>
              <a:srgbClr val="87C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C8C93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88950" y="-4247"/>
              <a:ext cx="177800" cy="740847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2" name="文字版面配置區 7"/>
          <p:cNvSpPr>
            <a:spLocks noGrp="1"/>
          </p:cNvSpPr>
          <p:nvPr>
            <p:ph type="body" sz="quarter" idx="10" hasCustomPrompt="1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8528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L -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11"/>
          <p:cNvSpPr>
            <a:spLocks noGrp="1"/>
          </p:cNvSpPr>
          <p:nvPr>
            <p:ph type="body" sz="quarter" idx="10" hasCustomPrompt="1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altLang="zh-TW" dirty="0"/>
              <a:t>that even needs a subtitle</a:t>
            </a:r>
            <a:endParaRPr lang="zh-TW" altLang="en-US" dirty="0"/>
          </a:p>
        </p:txBody>
      </p:sp>
      <p:sp>
        <p:nvSpPr>
          <p:cNvPr id="19" name="文字版面配置區 18"/>
          <p:cNvSpPr>
            <a:spLocks noGrp="1"/>
          </p:cNvSpPr>
          <p:nvPr>
            <p:ph type="body" sz="quarter" idx="12" hasCustomPrompt="1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 dirty="0"/>
              <a:t>Topic which is </a:t>
            </a:r>
            <a:r>
              <a:rPr lang="en-US" altLang="zh-TW" dirty="0" err="1"/>
              <a:t>soooooooo</a:t>
            </a:r>
            <a:r>
              <a:rPr lang="en-US" altLang="zh-TW" dirty="0"/>
              <a:t> long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582" y="6137932"/>
            <a:ext cx="866155" cy="866155"/>
          </a:xfrm>
          <a:prstGeom prst="rect">
            <a:avLst/>
          </a:prstGeom>
        </p:spPr>
      </p:pic>
      <p:grpSp>
        <p:nvGrpSpPr>
          <p:cNvPr id="10" name="群組 9"/>
          <p:cNvGrpSpPr/>
          <p:nvPr userDrawn="1"/>
        </p:nvGrpSpPr>
        <p:grpSpPr>
          <a:xfrm>
            <a:off x="494214" y="0"/>
            <a:ext cx="391111" cy="861956"/>
            <a:chOff x="488950" y="-4247"/>
            <a:chExt cx="391111" cy="861956"/>
          </a:xfrm>
        </p:grpSpPr>
        <p:sp>
          <p:nvSpPr>
            <p:cNvPr id="13" name="矩形 12"/>
            <p:cNvSpPr/>
            <p:nvPr/>
          </p:nvSpPr>
          <p:spPr>
            <a:xfrm>
              <a:off x="753421" y="210009"/>
              <a:ext cx="126640" cy="647700"/>
            </a:xfrm>
            <a:prstGeom prst="rect">
              <a:avLst/>
            </a:prstGeom>
            <a:solidFill>
              <a:srgbClr val="87C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C8C93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88950" y="-4247"/>
              <a:ext cx="177800" cy="740847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9411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845095" y="3845242"/>
            <a:ext cx="3449320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TW" sz="1400" dirty="0">
                <a:solidFill>
                  <a:srgbClr val="5AA8BA"/>
                </a:solidFill>
              </a:rPr>
              <a:t>ELAN Microelectronics Corporation</a:t>
            </a:r>
            <a:endParaRPr lang="zh-TW" altLang="en-US" sz="1400" dirty="0">
              <a:solidFill>
                <a:srgbClr val="5AA8BA"/>
              </a:solidFill>
            </a:endParaRPr>
          </a:p>
        </p:txBody>
      </p:sp>
      <p:sp>
        <p:nvSpPr>
          <p:cNvPr id="12" name="文字方塊 11"/>
          <p:cNvSpPr txBox="1"/>
          <p:nvPr userDrawn="1"/>
        </p:nvSpPr>
        <p:spPr>
          <a:xfrm>
            <a:off x="4806567" y="2373688"/>
            <a:ext cx="3487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TW" sz="4000" b="1" dirty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Thank You</a:t>
            </a:r>
            <a:endParaRPr lang="zh-TW" altLang="en-US" sz="4000" b="1" dirty="0">
              <a:solidFill>
                <a:srgbClr val="113F67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30" y="2360532"/>
            <a:ext cx="3109764" cy="2113306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7" b="68613"/>
          <a:stretch/>
        </p:blipFill>
        <p:spPr>
          <a:xfrm>
            <a:off x="6228961" y="3216237"/>
            <a:ext cx="681588" cy="49434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-406" r="3038" b="50136"/>
          <a:stretch/>
        </p:blipFill>
        <p:spPr>
          <a:xfrm>
            <a:off x="-124481" y="5821381"/>
            <a:ext cx="12404202" cy="112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62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1133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42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98" r:id="rId2"/>
    <p:sldLayoutId id="2147483676" r:id="rId3"/>
    <p:sldLayoutId id="2147483677" r:id="rId4"/>
    <p:sldLayoutId id="2147483678" r:id="rId5"/>
    <p:sldLayoutId id="2147483679" r:id="rId6"/>
    <p:sldLayoutId id="2147483697" r:id="rId7"/>
    <p:sldLayoutId id="2147483696" r:id="rId8"/>
    <p:sldLayoutId id="2147483682" r:id="rId9"/>
    <p:sldLayoutId id="2147483683" r:id="rId10"/>
    <p:sldLayoutId id="2147483686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0"/>
          </p:nvPr>
        </p:nvSpPr>
        <p:spPr>
          <a:xfrm>
            <a:off x="1768281" y="2484812"/>
            <a:ext cx="8674099" cy="5905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sz="2800" dirty="0"/>
              <a:t>[MS</a:t>
            </a:r>
            <a:r>
              <a:rPr lang="zh-TW" altLang="en-US" sz="2800" dirty="0"/>
              <a:t> </a:t>
            </a:r>
            <a:r>
              <a:rPr lang="en-US" altLang="zh-TW" sz="2800" dirty="0"/>
              <a:t>Meishan] ADO issue Analysis</a:t>
            </a:r>
          </a:p>
          <a:p>
            <a:pPr>
              <a:lnSpc>
                <a:spcPct val="150000"/>
              </a:lnSpc>
            </a:pPr>
            <a:r>
              <a:rPr lang="en-US" altLang="zh-TW" sz="2800"/>
              <a:t>445239</a:t>
            </a:r>
            <a:endParaRPr lang="en-US" altLang="zh-TW" sz="2800" dirty="0"/>
          </a:p>
        </p:txBody>
      </p:sp>
      <p:sp>
        <p:nvSpPr>
          <p:cNvPr id="2" name="文字方塊 1"/>
          <p:cNvSpPr txBox="1"/>
          <p:nvPr/>
        </p:nvSpPr>
        <p:spPr>
          <a:xfrm>
            <a:off x="5465250" y="3849624"/>
            <a:ext cx="1447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2026/07/16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176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E47693-C6A7-09EE-8890-10EAD7A0EDA2}"/>
              </a:ext>
            </a:extLst>
          </p:cNvPr>
          <p:cNvSpPr/>
          <p:nvPr/>
        </p:nvSpPr>
        <p:spPr>
          <a:xfrm>
            <a:off x="815519" y="793886"/>
            <a:ext cx="10984645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dirty="0"/>
              <a:t>9mm WOT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EF15DA3-2B6C-0B26-8F78-6B1A21B43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47" y="1248178"/>
            <a:ext cx="7535327" cy="338184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D5DDBFF-C082-FA73-AA17-ADE62B6991CC}"/>
              </a:ext>
            </a:extLst>
          </p:cNvPr>
          <p:cNvSpPr/>
          <p:nvPr/>
        </p:nvSpPr>
        <p:spPr>
          <a:xfrm>
            <a:off x="917547" y="3274424"/>
            <a:ext cx="7535327" cy="3309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371600" cy="259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基本資訊完整性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4800600"/>
            <a:ext cx="9448800" cy="167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4800600"/>
            <a:ext cx="3779520" cy="167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80520" y="4754880"/>
            <a:ext cx="411480" cy="259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C00000"/>
                </a:solidFill>
              </a:rPr>
              <a:t>40/100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13960"/>
            <a:ext cx="1371600" cy="259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問題描述與定義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5059680"/>
            <a:ext cx="9448800" cy="167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5059680"/>
            <a:ext cx="4251960" cy="167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80520" y="5013960"/>
            <a:ext cx="411480" cy="259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C00000"/>
                </a:solidFill>
              </a:rPr>
              <a:t>45/100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73040"/>
            <a:ext cx="1371600" cy="259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分析方法與流程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5318760"/>
            <a:ext cx="9448800" cy="167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5318760"/>
            <a:ext cx="2834640" cy="167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80520" y="5273040"/>
            <a:ext cx="411480" cy="259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C00000"/>
                </a:solidFill>
              </a:rPr>
              <a:t>30/100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371600" cy="259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數據與證據支持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5577840"/>
            <a:ext cx="9448800" cy="167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0" y="5577840"/>
            <a:ext cx="4724400" cy="167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80520" y="5532120"/>
            <a:ext cx="411480" cy="259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ED7D31"/>
                </a:solidFill>
              </a:rPr>
              <a:t>50/100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91200"/>
            <a:ext cx="1371600" cy="259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根因分析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5836920"/>
            <a:ext cx="9448800" cy="167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80520" y="5791200"/>
            <a:ext cx="411480" cy="259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C00000"/>
                </a:solidFill>
              </a:rPr>
              <a:t>0/100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050280"/>
            <a:ext cx="1371600" cy="259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改善對策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6096000"/>
            <a:ext cx="9448800" cy="167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80520" y="6050280"/>
            <a:ext cx="411480" cy="259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C00000"/>
                </a:solidFill>
              </a:rPr>
              <a:t>0/100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0" y="27432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70C0"/>
                </a:solidFill>
              </a:defRPr>
            </a:pPr>
            <a:r>
              <a:t>Executive Summary</a:t>
            </a:r>
          </a:p>
          <a:p>
            <a:pPr>
              <a:defRPr sz="1100"/>
            </a:pPr>
            <a:r>
              <a:t>此報告目前僅能被視為一份「測試紀錄 (Test Log)」，而非「失效分析報告 (Failure Analysis Report)」。報告僅記錄了測試失敗的結果，完全缺失了「為什麼會失敗」的分析過程與「如何解決」的對策。報告內容與失效分析的邏輯鏈嚴重斷裂，建議必須補齊根因分析與改善對策後方可作為正式文件。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0" y="42062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0000"/>
                </a:solidFill>
              </a:defRPr>
            </a:pPr>
            <a:r>
              <a:t>Key Improvements Required</a:t>
            </a:r>
          </a:p>
          <a:p>
            <a:pPr>
              <a:defRPr sz="1000"/>
            </a:pPr>
            <a:r>
              <a:t>• 僅提供部分編號與日期，缺乏產品型號、客戶資訊、製造日期及負責工程師等核心資訊。</a:t>
            </a:r>
          </a:p>
          <a:p>
            <a:pPr>
              <a:defRPr sz="1000"/>
            </a:pPr>
            <a:r>
              <a:t>• 有定義測試方法與失效狀態（Fail），但缺乏失效現象的具體描述、失效影響範圍及失效率統計。</a:t>
            </a:r>
          </a:p>
          <a:p>
            <a:pPr>
              <a:defRPr sz="1000"/>
            </a:pPr>
            <a:r>
              <a:t>• 僅呈現 Robot Log 與測試參數，完全沒有展示任何實質的失效分析手段（如 SEM, X-ray 或軟體 Debug 過程），流程極度不完整。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2062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70C0"/>
                </a:solidFill>
              </a:defRPr>
            </a:pPr>
            <a:r>
              <a:t>分析優點與成功驗證</a:t>
            </a:r>
          </a:p>
          <a:p>
            <a:pPr>
              <a:defRPr sz="1000"/>
            </a:pPr>
            <a:r>
              <a:t>✓ 提供了清晰的測試參數定義表 (Parameter Table)</a:t>
            </a:r>
          </a:p>
          <a:p>
            <a:pPr>
              <a:defRPr sz="1000"/>
            </a:pPr>
            <a:r>
              <a:t>✓ 提供了測試序列的執行時間與結果對照表 (Sequence Log)</a:t>
            </a:r>
          </a:p>
        </p:txBody>
      </p:sp>
    </p:spTree>
    <p:extLst>
      <p:ext uri="{BB962C8B-B14F-4D97-AF65-F5344CB8AC3E}">
        <p14:creationId xmlns:p14="http://schemas.microsoft.com/office/powerpoint/2010/main" val="2343444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3B9AC94A-2300-C2BF-7A61-BC135B5AC8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ADO issue</a:t>
            </a:r>
            <a:endParaRPr lang="en-US" altLang="zh-TW" sz="2800" dirty="0"/>
          </a:p>
          <a:p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96A28B-574C-5CFB-285E-2488754A5EB8}"/>
              </a:ext>
            </a:extLst>
          </p:cNvPr>
          <p:cNvSpPr/>
          <p:nvPr/>
        </p:nvSpPr>
        <p:spPr>
          <a:xfrm>
            <a:off x="815519" y="793886"/>
            <a:ext cx="10984645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dirty="0"/>
              <a:t>Test Method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BF3227B-6CD3-D6C8-7E48-B2EC20581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19" y="1869565"/>
            <a:ext cx="4229690" cy="3982006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496AB945-5C46-58C9-CE27-0D3634787067}"/>
              </a:ext>
            </a:extLst>
          </p:cNvPr>
          <p:cNvSpPr txBox="1"/>
          <p:nvPr/>
        </p:nvSpPr>
        <p:spPr>
          <a:xfrm>
            <a:off x="815519" y="1248178"/>
            <a:ext cx="65892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600">
                <a:solidFill>
                  <a:srgbClr val="FF0000"/>
                </a:solidFill>
              </a:defRPr>
            </a:lvl1pPr>
          </a:lstStyle>
          <a:p>
            <a:r>
              <a:rPr lang="zh-TW" altLang="zh-TW" sz="1400" dirty="0">
                <a:latin typeface="Segoe UI" panose="020B0502040204020203" pitchFamily="34" charset="0"/>
              </a:rPr>
              <a:t>The device enters suspend mode for 90 seconds, then a 2-second tap is applied. The test passes if the device remains asleep and fails if it wakes up.</a:t>
            </a:r>
          </a:p>
          <a:p>
            <a:endParaRPr lang="zh-TW" altLang="zh-TW" sz="1400" dirty="0"/>
          </a:p>
        </p:txBody>
      </p:sp>
    </p:spTree>
    <p:extLst>
      <p:ext uri="{BB962C8B-B14F-4D97-AF65-F5344CB8AC3E}">
        <p14:creationId xmlns:p14="http://schemas.microsoft.com/office/powerpoint/2010/main" val="25744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73A9C741-F58B-4900-3433-0E985FDA0385}"/>
              </a:ext>
            </a:extLst>
          </p:cNvPr>
          <p:cNvSpPr/>
          <p:nvPr/>
        </p:nvSpPr>
        <p:spPr>
          <a:xfrm>
            <a:off x="815519" y="793886"/>
            <a:ext cx="10984645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dirty="0"/>
              <a:t>Test Robot log</a:t>
            </a:r>
          </a:p>
        </p:txBody>
      </p:sp>
      <p:sp>
        <p:nvSpPr>
          <p:cNvPr id="23" name="文字版面配置區 1">
            <a:extLst>
              <a:ext uri="{FF2B5EF4-FFF2-40B4-BE49-F238E27FC236}">
                <a16:creationId xmlns:a16="http://schemas.microsoft.com/office/drawing/2014/main" id="{97005C2B-44ED-8434-5E2F-A1A1B1109C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</p:spPr>
        <p:txBody>
          <a:bodyPr/>
          <a:lstStyle/>
          <a:p>
            <a:r>
              <a:rPr lang="en-US" altLang="zh-TW" dirty="0"/>
              <a:t>ADO issue</a:t>
            </a:r>
            <a:endParaRPr lang="en-US" altLang="zh-TW" sz="28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BCF852F-474C-FE3D-9BA9-5031B4304FAE}"/>
              </a:ext>
            </a:extLst>
          </p:cNvPr>
          <p:cNvSpPr txBox="1"/>
          <p:nvPr/>
        </p:nvSpPr>
        <p:spPr>
          <a:xfrm>
            <a:off x="1089497" y="1307388"/>
            <a:ext cx="6989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/>
            </a:lvl1pPr>
          </a:lstStyle>
          <a:p>
            <a:r>
              <a:rPr lang="en-US" altLang="zh-TW" dirty="0"/>
              <a:t>no Z-axis movement was observed in the Robot Movement Log.</a:t>
            </a: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E890890-63E1-0E9D-9267-0E69F41E7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137856"/>
              </p:ext>
            </p:extLst>
          </p:nvPr>
        </p:nvGraphicFramePr>
        <p:xfrm>
          <a:off x="1089497" y="1735930"/>
          <a:ext cx="7432983" cy="4351335"/>
        </p:xfrm>
        <a:graphic>
          <a:graphicData uri="http://schemas.openxmlformats.org/drawingml/2006/table">
            <a:tbl>
              <a:tblPr/>
              <a:tblGrid>
                <a:gridCol w="1177935">
                  <a:extLst>
                    <a:ext uri="{9D8B030D-6E8A-4147-A177-3AD203B41FA5}">
                      <a16:colId xmlns:a16="http://schemas.microsoft.com/office/drawing/2014/main" val="4038888792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2802652492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4041891986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798189242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Point</a:t>
                      </a:r>
                      <a:endParaRPr lang="zh-TW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X</a:t>
                      </a:r>
                      <a:r>
                        <a:rPr lang="en-US" altLang="zh-TW" sz="1400" dirty="0"/>
                        <a:t>(mm)</a:t>
                      </a:r>
                      <a:endParaRPr lang="zh-TW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Y</a:t>
                      </a:r>
                      <a:r>
                        <a:rPr lang="en-US" altLang="zh-TW" sz="1400" dirty="0"/>
                        <a:t>(mm)</a:t>
                      </a:r>
                      <a:endParaRPr lang="zh-TW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Z</a:t>
                      </a:r>
                      <a:r>
                        <a:rPr lang="en-US" altLang="zh-TW" sz="1400" dirty="0"/>
                        <a:t>(mm)</a:t>
                      </a:r>
                      <a:endParaRPr lang="zh-TW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0028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Home(Start)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0.0631405338644981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0.0947645753622055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89156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15.9999942779541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15.999924659729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10.0000009536743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38784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89.8066024780273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15.9999370574951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6554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163.613204956055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15.9999389648438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36289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P4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237.419799804688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15.9999618530273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9757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15.9999933242798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84.403076171875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08431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89.8066024780273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84.4030380249023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82701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P7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163.613204956055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84.4030685424805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1891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237.419799804688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84.4030685424805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10.0000009536743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31221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P9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16.0000019073486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152.806121826172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30353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P10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89.8066024780273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152.806045532227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10.0000019073486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86804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P11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163.613204956055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152.806106567383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10.0000009536743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05161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P12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237.419799804688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152.806060791016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9.99999904632568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39983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Home(End)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0.936868369579315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0.90520316362381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10.0000009536743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728892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EE1D0B5C-7ECA-5405-B09F-BBD0406AE880}"/>
              </a:ext>
            </a:extLst>
          </p:cNvPr>
          <p:cNvSpPr/>
          <p:nvPr/>
        </p:nvSpPr>
        <p:spPr>
          <a:xfrm>
            <a:off x="6456199" y="1735930"/>
            <a:ext cx="2066282" cy="43513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283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73469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FA 基本資訊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FA 編號: FA-260716-001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02674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2674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負責工程師: ELAN FAE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25188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25188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客戶: Meishan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47702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47702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專案名稱: ADO 445239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70217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70217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報告日期: 2026/07/16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92731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92731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失效數量: 依評核建議補充填寫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15245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15245"/>
            <a:ext cx="10957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批號 (Lot No.): 依評核建議補充填寫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127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0000"/>
                </a:solidFill>
              </a:defRPr>
            </a:pPr>
            <a:r>
              <a:t>[優化建議項目]</a:t>
            </a:r>
          </a:p>
          <a:p>
            <a:pPr>
              <a:defRPr sz="1200"/>
            </a:pPr>
            <a:r>
              <a:t>• 僅提供部分編號與日期，缺乏產品型號、客戶資訊、製造日期及負責工程師等核心資訊。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問題描述與失效定義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目前報告常見缺失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建議補充內容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失效現象 (Phenomenon)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僅描述「通訊失敗」等表面現象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完整描述:電壓/電流/波形/時序/外觀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失效模式 (Failure Mode)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未明確定義失效機制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對應失效機制:開路/短路/漏電/漂移/功能失效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失效位置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只說「IC 損壞」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精確位置:腳位/區塊/層次(晶圓/封裝/PCB)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3832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1095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失效率(PPM 或 %):本次失效佔總出貨量的比例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095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影響產品數量:目前庫存/在製品/已出貨的受影響數量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95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影響時間範圍:失效首次發生日期 → 目前(持續中/已結案)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095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客戶影響評估:客戶端失效比例、生產線停線時間、退貨/召回成本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120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1095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失效嚴重性分級:Critical(安全)/Major(功能)/Minor(性能降級)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6692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69280"/>
            <a:ext cx="1095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批量 vs 個案:是否為批次性失效(同批多顆)或個案(單顆)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分析方法與流程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D1: 建立團隊(FAE/QRA/PM)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945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945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D2: 描述問題(5W2H)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8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88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D3: 圍堵行動(Containment)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232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32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D4: 根因分析(5-Why/Fishbone)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D5: 永久對策(PCA)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519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519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D6: 實施與驗證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662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662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D7: 再發防止(SOP/防呆)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806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806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70AD47"/>
                </a:solidFill>
              </a:rPr>
              <a:t>D8: 團隊表揚與經驗傳承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389120" y="1280160"/>
          <a:ext cx="734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560"/>
                <a:gridCol w="2448560"/>
                <a:gridCol w="2448560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適用場景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備註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光學檢查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外部損傷、燒毀痕跡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快速、低成本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晶片內部結構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需真空環境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FIB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橫截面分析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破壞性測試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X-ray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封裝裂縫、空洞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非破壞性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Decap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開蓋檢查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化學蝕刻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TDR/示波器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訊號完整性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時域反射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XRD/EDX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材料分析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成分鑑定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ESD 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靜電耐受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HBM/CDM 模型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數據與證據支持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28738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測試項目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DVT 正常品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PVT 異常品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Spec 範圍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判定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ESD HBM (±2kV)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通過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±2kV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需補測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I/O 對地阻抗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16MΩ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5.7KΩ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&gt;1MΩ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VH/VOUT 電壓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0.4-0.6V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二極體特性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0.43V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0.4-0.6V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FW 讀取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PASS</a:t>
                      </a:r>
                    </a:p>
                  </a:txBody>
                  <a:tcPr/>
                </a:tc>
              </a:tr>
              <a:tr h="287388">
                <a:tc>
                  <a:txBody>
                    <a:bodyPr/>
                    <a:lstStyle/>
                    <a:p>
                      <a:r>
                        <a:rPr sz="1000"/>
                        <a:t>外觀檢查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無損傷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566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圖片解析度 ≥ 1000x(建議 ≥ 2000x 以利 IC Marking 辨識)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對焦清晰,IC 標籤、Marking 可清楚辨識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含比例尺(scale bar),方便評估損傷範圍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異常點明確標註(箭頭、方框、文字說明)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對照組(Golden Sample)與異常品並列比較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949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9496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每個量化數據有來源追溯(儀器型號、測試條件、日期)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6072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70AD47"/>
                </a:solidFill>
              </a:rPr>
              <a:t>統計顯著性(p-value、CI)支援結論(非僅描述)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為什麼需要 5-Why:</a:t>
            </a:r>
          </a:p>
          <a:p>
            <a:pPr>
              <a:defRPr sz="1400"/>
            </a:pPr>
            <a:r>
              <a:t>僅呈現 Robot Log 與測試參數，完全沒有展示任何實質的失效分析手段（如 SEM, X-ray 或軟體 Debug 過程），流程極度不完整。</a:t>
            </a:r>
          </a:p>
          <a:p>
            <a:pPr>
              <a:defRPr sz="1400"/>
            </a:pPr>
            <a:r>
              <a:t>報告中完全沒有提及任何根因分析（Root Cause Analysis），亦無 5-Why 或邏輯推導過程。</a:t>
            </a:r>
          </a:p>
          <a:p>
            <a:br/>
            <a:pPr>
              <a:defRPr b="1"/>
            </a:pPr>
            <a:r>
              <a:t>[推導流程]</a:t>
            </a:r>
          </a:p>
          <a:p>
            <a:pPr>
              <a:defRPr sz="1200"/>
            </a:pPr>
            <a:r>
              <a:t>• 設定 DVT 正常品 vs PVT 異常品之對照組</a:t>
            </a:r>
          </a:p>
          <a:p>
            <a:pPr>
              <a:defRPr sz="1200"/>
            </a:pPr>
            <a:r>
              <a:t>• 使用獨立樣本 t 檢定驗證參數顯著性 (p &lt; 0.05)</a:t>
            </a:r>
          </a:p>
          <a:p>
            <a:pPr>
              <a:defRPr sz="1200"/>
            </a:pPr>
            <a:r>
              <a:t>• 確保統計證據支持最終提到的根本原因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5-Why 根因推導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僅呈現 Robot Log 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7556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0416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報告中完全沒有提及任何根因分析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3108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5968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1: 表層現象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60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2: 直接原因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4212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7072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3: 間接原因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控制組 / 對照組分析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對照組設定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目的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驗證邏輯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Golden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建立失效基準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與異常品並列比對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DVT 正常品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製程能力驗證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統計差異分析 (t-test)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同批 PVT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排除批次性失效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批次間變異數分析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跨批抽樣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長期趨勢監測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管制圖 (Control Chart)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新增,提供控制組/對照組/證據型根因分析的標準範本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證據型根因分析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7620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證據類型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取得方式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說服力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電性數據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I/V 曲線、阻抗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結構影像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SEM、X-ray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成分分析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EDX、XRD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中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失效重現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HTSL、HAST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統計分析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p-value、CI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新增,提供控制組/對照組/證據型根因分析的標準範本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針對問題點之深度分析建議:</a:t>
            </a:r>
          </a:p>
          <a:p>
            <a:pPr>
              <a:defRPr sz="1400"/>
            </a:pPr>
            <a:r>
              <a:t>僅呈現 Robot Log 與測試參數，完全沒有展示任何實質的失效分析手段（如 SEM, X-ray 或軟體 Debug 過程），流程極度不完整。</a:t>
            </a:r>
          </a:p>
          <a:p>
            <a:pPr>
              <a:defRPr sz="1400"/>
            </a:pPr>
            <a:r>
              <a:t>報告中完全沒有提及任何根因分析（Root Cause Analysis），亦無 5-Why 或邏輯推導過程。</a:t>
            </a:r>
          </a:p>
          <a:p>
            <a:br/>
            <a:pPr>
              <a:defRPr b="1"/>
            </a:pPr>
            <a:r>
              <a:t>[建議執行動作]</a:t>
            </a:r>
          </a:p>
          <a:p>
            <a:pPr>
              <a:defRPr sz="1200"/>
            </a:pPr>
            <a:r>
              <a:t>• 設定 DVT 正常品 vs PVT 異常品之對照組</a:t>
            </a:r>
          </a:p>
          <a:p>
            <a:pPr>
              <a:defRPr sz="1200"/>
            </a:pPr>
            <a:r>
              <a:t>• 使用獨立樣本 t 檢定驗證參數顯著性 (p &lt; 0.05)</a:t>
            </a:r>
          </a:p>
          <a:p>
            <a:pPr>
              <a:defRPr sz="1200"/>
            </a:pPr>
            <a:r>
              <a:t>• 確保統計證據支持最終提到的根本原因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根因驗證及統計分析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擬議改善對策項目:</a:t>
            </a:r>
          </a:p>
          <a:p>
            <a:pPr>
              <a:defRPr sz="1400"/>
            </a:pPr>
            <a:r>
              <a:t>僅提供部分編號與日期，缺乏產品型號、客戶資訊、製造日期及負責工程師等核心資訊。</a:t>
            </a:r>
          </a:p>
          <a:p>
            <a:pPr>
              <a:defRPr sz="1400"/>
            </a:pPr>
            <a:r>
              <a:t>有定義測試方法與失效狀態（Fail），但缺乏失效現象的具體描述、失效影響範圍及失效率統計。</a:t>
            </a:r>
          </a:p>
          <a:p>
            <a:pPr>
              <a:defRPr sz="1400"/>
            </a:pPr>
            <a:r>
              <a:t>僅呈現 Robot Log 與測試參數，完全沒有展示任何實質的失效分析手段（如 SEM, X-ray 或軟體 Debug 過程），流程極度不完整。</a:t>
            </a:r>
          </a:p>
          <a:p>
            <a:br/>
            <a:pPr>
              <a:defRPr b="1"/>
            </a:pPr>
            <a:r>
              <a:t>[標準化與監測計畫]</a:t>
            </a:r>
          </a:p>
          <a:p>
            <a:pPr>
              <a:defRPr sz="1200"/>
            </a:pPr>
            <a:r>
              <a:t>• 建立入料檢驗 (IQC) SOP 與測試閾值</a:t>
            </a:r>
          </a:p>
          <a:p>
            <a:pPr>
              <a:defRPr sz="1200"/>
            </a:pPr>
            <a:r>
              <a:t>• 導入自動化監測設備於生產線</a:t>
            </a:r>
          </a:p>
          <a:p>
            <a:pPr>
              <a:defRPr sz="1200"/>
            </a:pPr>
            <a:r>
              <a:t>• 將此案例納入知識管理資料庫以利後續追蹤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長期預防措施與改善對策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0"/>
            <a:ext cx="11277600" cy="9144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53920" y="5532120"/>
            <a:ext cx="365760" cy="365760"/>
          </a:xfrm>
          <a:prstGeom prst="ellips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37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</a:rPr>
              <a:t>短期 (&lt; 1 個月)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375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D+0 ~ D+30</a:t>
            </a:r>
          </a:p>
        </p:txBody>
      </p:sp>
      <p:sp>
        <p:nvSpPr>
          <p:cNvPr id="9" name="Oval 8"/>
          <p:cNvSpPr/>
          <p:nvPr/>
        </p:nvSpPr>
        <p:spPr>
          <a:xfrm>
            <a:off x="5913120" y="5532120"/>
            <a:ext cx="365760" cy="365760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6400" y="5943600"/>
            <a:ext cx="37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</a:rPr>
              <a:t>中期 (1-3 個月)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400" y="6217920"/>
            <a:ext cx="375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D+30 ~ D+90</a:t>
            </a:r>
          </a:p>
        </p:txBody>
      </p:sp>
      <p:sp>
        <p:nvSpPr>
          <p:cNvPr id="12" name="Oval 11"/>
          <p:cNvSpPr/>
          <p:nvPr/>
        </p:nvSpPr>
        <p:spPr>
          <a:xfrm>
            <a:off x="9672320" y="5532120"/>
            <a:ext cx="365760" cy="365760"/>
          </a:xfrm>
          <a:prstGeom prst="ellips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5600" y="5943600"/>
            <a:ext cx="37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0AD47"/>
                </a:solidFill>
              </a:rPr>
              <a:t>長期 (&gt; 3 個月)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5600" y="6217920"/>
            <a:ext cx="375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D+90 ~ D+180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IQC 入料檢驗標準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檢驗項目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抽驗比例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允收標準 (AQL)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不合格處置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外觀檢查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AQL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MIL-STD-105E Level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退貨重工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尺寸量測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±0.05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隔離/特採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電性測試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全數測試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退貨/報廢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X-ray 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無空洞、裂痕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重工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DPA 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pcs/批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結構完整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新增的標準化對照表,提供 IQC 抽驗比例與 KM 監測頻率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監測與知識管理 (KM)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頻率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負責單位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產出文件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KMS 登錄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每案結案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KM 文件編號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失效資料庫更新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失效資料庫月報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跨部門分享會議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會議紀錄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同類型失效再發監測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失效趨勢分析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SOP 改版提案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每半年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製程工程師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SOP 改版單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新增的標準化對照表,提供 IQC 抽驗比例與 KM 監測頻率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ELAN">
      <a:dk1>
        <a:srgbClr val="174567"/>
      </a:dk1>
      <a:lt1>
        <a:sysClr val="window" lastClr="FFFFFF"/>
      </a:lt1>
      <a:dk2>
        <a:srgbClr val="226597"/>
      </a:dk2>
      <a:lt2>
        <a:srgbClr val="5AA8BA"/>
      </a:lt2>
      <a:accent1>
        <a:srgbClr val="226597"/>
      </a:accent1>
      <a:accent2>
        <a:srgbClr val="BCDDEA"/>
      </a:accent2>
      <a:accent3>
        <a:srgbClr val="87C0CD"/>
      </a:accent3>
      <a:accent4>
        <a:srgbClr val="D4EFF2"/>
      </a:accent4>
      <a:accent5>
        <a:srgbClr val="FFCD3F"/>
      </a:accent5>
      <a:accent6>
        <a:srgbClr val="FF7058"/>
      </a:accent6>
      <a:hlink>
        <a:srgbClr val="5AA8BA"/>
      </a:hlink>
      <a:folHlink>
        <a:srgbClr val="174567"/>
      </a:folHlink>
    </a:clrScheme>
    <a:fontScheme name="ELAN">
      <a:majorFont>
        <a:latin typeface="Malgun Gothic"/>
        <a:ea typeface="微軟正黑體"/>
        <a:cs typeface=""/>
      </a:majorFont>
      <a:minorFont>
        <a:latin typeface="Malgun Gothic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14740</TotalTime>
  <Words>244</Words>
  <Application>Microsoft Office PowerPoint</Application>
  <PresentationFormat>寬螢幕</PresentationFormat>
  <Paragraphs>73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Segoe UI</vt:lpstr>
      <vt:lpstr>Arial</vt:lpstr>
      <vt:lpstr>Malgun Gothic</vt:lpstr>
      <vt:lpstr>Microsoft YaHei UI Light</vt:lpstr>
      <vt:lpstr>Wingdings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沈明荃</dc:creator>
  <cp:lastModifiedBy>Jimmy Lo 羅淇民</cp:lastModifiedBy>
  <cp:revision>347</cp:revision>
  <dcterms:created xsi:type="dcterms:W3CDTF">2019-03-15T09:45:19Z</dcterms:created>
  <dcterms:modified xsi:type="dcterms:W3CDTF">2026-07-16T08:26:20Z</dcterms:modified>
</cp:coreProperties>
</file>