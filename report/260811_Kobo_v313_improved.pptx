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668036" r:id="rId1"/>
  </p:sldMasterIdLst>
  <p:notesMasterIdLst>
    <p:notesMasterId r:id="rId7"/>
  </p:notesMasterIdLst>
  <p:handoutMasterIdLst>
    <p:handoutMasterId r:id="rId8"/>
  </p:handoutMasterIdLst>
  <p:sldIdLst>
    <p:sldId id="256" r:id="rId2"/>
    <p:sldId id="543" r:id="rId3"/>
    <p:sldId id="545" r:id="rId4"/>
    <p:sldId id="544" r:id="rId5"/>
    <p:sldId id="540" r:id="rId6"/>
    <p:sldId id="546" r:id="rId13"/>
    <p:sldId id="547" r:id="rId14"/>
    <p:sldId id="548" r:id="rId15"/>
    <p:sldId id="549" r:id="rId16"/>
    <p:sldId id="550" r:id="rId17"/>
    <p:sldId id="551" r:id="rId18"/>
    <p:sldId id="552" r:id="rId19"/>
    <p:sldId id="553" r:id="rId20"/>
    <p:sldId id="554" r:id="rId21"/>
    <p:sldId id="555" r:id="rId22"/>
  </p:sldIdLst>
  <p:sldSz cx="9144000" cy="6858000" type="screen4x3"/>
  <p:notesSz cx="6797675" cy="99266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0000FF"/>
    <a:srgbClr val="006600"/>
    <a:srgbClr val="008000"/>
    <a:srgbClr val="FF3399"/>
    <a:srgbClr val="0066FF"/>
    <a:srgbClr val="86000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99" autoAdjust="0"/>
    <p:restoredTop sz="95032" autoAdjust="0"/>
  </p:normalViewPr>
  <p:slideViewPr>
    <p:cSldViewPr>
      <p:cViewPr varScale="1">
        <p:scale>
          <a:sx n="101" d="100"/>
          <a:sy n="101" d="100"/>
        </p:scale>
        <p:origin x="2178" y="108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9F168AE-F92B-95A5-3321-A2C15CAD3BB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05" tIns="46503" rIns="93005" bIns="46503" numCol="1" anchor="t" anchorCtr="0" compatLnSpc="1">
            <a:prstTxWarp prst="textNoShape">
              <a:avLst/>
            </a:prstTxWarp>
          </a:bodyPr>
          <a:lstStyle>
            <a:lvl1pPr defTabSz="930275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319F359-31C0-E04E-09BC-720FF26030C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8100" y="0"/>
            <a:ext cx="29479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05" tIns="46503" rIns="93005" bIns="46503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FA4058E8-BBAD-F208-7CE0-95159528049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05" tIns="46503" rIns="93005" bIns="46503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2AE1E42B-B52E-0084-1896-6BEF60A473D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8100" y="9428163"/>
            <a:ext cx="294798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05" tIns="46503" rIns="93005" bIns="46503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300">
                <a:ea typeface="AR MingtiM BIG-5" pitchFamily="49" charset="-120"/>
              </a:defRPr>
            </a:lvl1pPr>
          </a:lstStyle>
          <a:p>
            <a:pPr>
              <a:defRPr/>
            </a:pPr>
            <a:fld id="{8341BD03-9067-4A6D-9059-20738E6F579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A5443F29-9A45-7C24-E950-ABA3E30EC7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43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79" tIns="46240" rIns="92479" bIns="46240" numCol="1" anchor="t" anchorCtr="0" compatLnSpc="1">
            <a:prstTxWarp prst="textNoShape">
              <a:avLst/>
            </a:prstTxWarp>
          </a:bodyPr>
          <a:lstStyle>
            <a:lvl1pPr defTabSz="925513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561D759F-2656-CEB3-6E02-34141B9F16F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7788" y="0"/>
            <a:ext cx="28765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79" tIns="46240" rIns="92479" bIns="46240" numCol="1" anchor="t" anchorCtr="0" compatLnSpc="1">
            <a:prstTxWarp prst="textNoShape">
              <a:avLst/>
            </a:prstTxWarp>
          </a:bodyPr>
          <a:lstStyle>
            <a:lvl1pPr algn="r" defTabSz="925513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2610001A-96F3-2BC3-A7FD-23868DFEBE9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6788" y="768350"/>
            <a:ext cx="4906962" cy="3679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3" name="Rectangle 5">
            <a:extLst>
              <a:ext uri="{FF2B5EF4-FFF2-40B4-BE49-F238E27FC236}">
                <a16:creationId xmlns:a16="http://schemas.microsoft.com/office/drawing/2014/main" id="{B47D350B-CD29-A580-2E12-4A17B97DDCF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751388"/>
            <a:ext cx="4976812" cy="444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79" tIns="46240" rIns="92479" bIns="462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  <a:endParaRPr lang="en-US" altLang="zh-TW" noProof="0"/>
          </a:p>
          <a:p>
            <a:pPr lvl="0"/>
            <a:r>
              <a:rPr lang="zh-TW" altLang="en-US" noProof="0"/>
              <a:t>第二層</a:t>
            </a:r>
            <a:endParaRPr lang="en-US" altLang="zh-TW" noProof="0"/>
          </a:p>
          <a:p>
            <a:pPr lvl="0"/>
            <a:r>
              <a:rPr lang="zh-TW" altLang="en-US" noProof="0"/>
              <a:t>第三層</a:t>
            </a:r>
            <a:endParaRPr lang="en-US" altLang="zh-TW" noProof="0"/>
          </a:p>
          <a:p>
            <a:pPr lvl="0"/>
            <a:r>
              <a:rPr lang="zh-TW" altLang="en-US" noProof="0"/>
              <a:t>第四層</a:t>
            </a:r>
            <a:endParaRPr lang="en-US" altLang="zh-TW" noProof="0"/>
          </a:p>
          <a:p>
            <a:pPr lvl="0"/>
            <a:r>
              <a:rPr lang="zh-TW" altLang="en-US" noProof="0"/>
              <a:t>第五層</a:t>
            </a:r>
            <a:endParaRPr lang="en-US" altLang="zh-TW" noProof="0"/>
          </a:p>
        </p:txBody>
      </p:sp>
      <p:sp>
        <p:nvSpPr>
          <p:cNvPr id="130054" name="Rectangle 6">
            <a:extLst>
              <a:ext uri="{FF2B5EF4-FFF2-40B4-BE49-F238E27FC236}">
                <a16:creationId xmlns:a16="http://schemas.microsoft.com/office/drawing/2014/main" id="{E2D19B30-F129-6574-0241-7CB95AC6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543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79" tIns="46240" rIns="92479" bIns="46240" numCol="1" anchor="b" anchorCtr="0" compatLnSpc="1">
            <a:prstTxWarp prst="textNoShape">
              <a:avLst/>
            </a:prstTxWarp>
          </a:bodyPr>
          <a:lstStyle>
            <a:lvl1pPr defTabSz="925513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0055" name="Rectangle 7">
            <a:extLst>
              <a:ext uri="{FF2B5EF4-FFF2-40B4-BE49-F238E27FC236}">
                <a16:creationId xmlns:a16="http://schemas.microsoft.com/office/drawing/2014/main" id="{4913DAF2-2975-D8D3-A942-D916C03DA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7788" y="9428163"/>
            <a:ext cx="28765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79" tIns="46240" rIns="92479" bIns="46240" numCol="1" anchor="b" anchorCtr="0" compatLnSpc="1">
            <a:prstTxWarp prst="textNoShape">
              <a:avLst/>
            </a:prstTxWarp>
          </a:bodyPr>
          <a:lstStyle>
            <a:lvl1pPr algn="r" defTabSz="925513" eaLnBrk="1" hangingPunct="1">
              <a:defRPr sz="1300">
                <a:ea typeface="AR MingtiM BIG-5" pitchFamily="49" charset="-120"/>
              </a:defRPr>
            </a:lvl1pPr>
          </a:lstStyle>
          <a:p>
            <a:pPr>
              <a:defRPr/>
            </a:pPr>
            <a:fld id="{0EE92151-50E3-4C2A-998A-F35028AA7CF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-12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-12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-12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-12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-12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8884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754485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3">
            <a:extLst>
              <a:ext uri="{FF2B5EF4-FFF2-40B4-BE49-F238E27FC236}">
                <a16:creationId xmlns:a16="http://schemas.microsoft.com/office/drawing/2014/main" id="{F3FFC776-2CF4-BDC5-0A78-83E5ABDD602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465263" y="2543175"/>
            <a:ext cx="723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32">
            <a:extLst>
              <a:ext uri="{FF2B5EF4-FFF2-40B4-BE49-F238E27FC236}">
                <a16:creationId xmlns:a16="http://schemas.microsoft.com/office/drawing/2014/main" id="{E11CCE2E-BD04-54BB-B047-FF2101E8BB3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8851900" cy="836613"/>
            <a:chOff x="0" y="0"/>
            <a:chExt cx="5576" cy="527"/>
          </a:xfrm>
        </p:grpSpPr>
        <p:pic>
          <p:nvPicPr>
            <p:cNvPr id="5" name="Picture 33">
              <a:extLst>
                <a:ext uri="{FF2B5EF4-FFF2-40B4-BE49-F238E27FC236}">
                  <a16:creationId xmlns:a16="http://schemas.microsoft.com/office/drawing/2014/main" id="{DEFDF40B-ED95-120C-6538-DFCEAD54BF8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2" y="64"/>
              <a:ext cx="155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4">
              <a:extLst>
                <a:ext uri="{FF2B5EF4-FFF2-40B4-BE49-F238E27FC236}">
                  <a16:creationId xmlns:a16="http://schemas.microsoft.com/office/drawing/2014/main" id="{4F0E4D84-07FA-1F86-7EBF-52DDDA93C2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014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" name="Picture 14">
            <a:extLst>
              <a:ext uri="{FF2B5EF4-FFF2-40B4-BE49-F238E27FC236}">
                <a16:creationId xmlns:a16="http://schemas.microsoft.com/office/drawing/2014/main" id="{5F4C56CD-7091-607A-511C-FE2514A34C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125538"/>
            <a:ext cx="1028700" cy="470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FBB093F-F18C-544A-71A6-B1D403AE5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2625" y="2744788"/>
            <a:ext cx="8461375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34567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70371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9592" y="414338"/>
            <a:ext cx="7704658" cy="1143000"/>
          </a:xfrm>
        </p:spPr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9592" y="1700808"/>
            <a:ext cx="7784033" cy="4680519"/>
          </a:xfrm>
        </p:spPr>
        <p:txBody>
          <a:bodyPr/>
          <a:lstStyle>
            <a:lvl1pPr marL="342900" indent="-342900">
              <a:buFont typeface="Wingdings" pitchFamily="2" charset="2"/>
              <a:buChar char="u"/>
              <a:defRPr sz="2400">
                <a:solidFill>
                  <a:schemeClr val="tx2"/>
                </a:solidFill>
                <a:latin typeface="+mj-lt"/>
                <a:ea typeface="微軟正黑體" pitchFamily="34" charset="-120"/>
              </a:defRPr>
            </a:lvl1pPr>
            <a:lvl2pPr marL="742950" indent="-285750">
              <a:buClr>
                <a:srgbClr val="860000"/>
              </a:buClr>
              <a:buFont typeface="Wingdings" pitchFamily="2" charset="2"/>
              <a:buChar char=""/>
              <a:defRPr sz="2000">
                <a:solidFill>
                  <a:srgbClr val="860000"/>
                </a:solidFill>
                <a:latin typeface="+mj-lt"/>
                <a:ea typeface="微軟正黑體" pitchFamily="34" charset="-120"/>
              </a:defRPr>
            </a:lvl2pPr>
            <a:lvl3pPr marL="1143000" indent="-228600">
              <a:buSzPct val="80000"/>
              <a:buFont typeface="Wingdings" pitchFamily="2" charset="2"/>
              <a:buChar char="§"/>
              <a:defRPr sz="1800">
                <a:latin typeface="+mj-lt"/>
              </a:defRPr>
            </a:lvl3pPr>
            <a:lvl4pPr>
              <a:defRPr sz="16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37694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60247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893726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73235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747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167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660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79862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86884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35775" y="414338"/>
            <a:ext cx="1847850" cy="552767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290638" y="414338"/>
            <a:ext cx="5392737" cy="552767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43230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0629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Relationship Id="rId15" Type="http://schemas.openxmlformats.org/officeDocument/2006/relationships/image" Target="../media/image2.jpeg"/><Relationship Id="rId16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>
            <a:extLst>
              <a:ext uri="{FF2B5EF4-FFF2-40B4-BE49-F238E27FC236}">
                <a16:creationId xmlns:a16="http://schemas.microsoft.com/office/drawing/2014/main" id="{C08AE445-0B5D-5B57-75F6-8CB7E0ADF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90638" y="414338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7">
            <a:extLst>
              <a:ext uri="{FF2B5EF4-FFF2-40B4-BE49-F238E27FC236}">
                <a16:creationId xmlns:a16="http://schemas.microsoft.com/office/drawing/2014/main" id="{57C0D369-E314-C4FA-DAB1-62CCCA56D2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grpSp>
        <p:nvGrpSpPr>
          <p:cNvPr id="1028" name="Group 39">
            <a:extLst>
              <a:ext uri="{FF2B5EF4-FFF2-40B4-BE49-F238E27FC236}">
                <a16:creationId xmlns:a16="http://schemas.microsoft.com/office/drawing/2014/main" id="{AC044A2E-12B9-7BCB-6D51-8E5723981A9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8851900" cy="836613"/>
            <a:chOff x="0" y="0"/>
            <a:chExt cx="5576" cy="527"/>
          </a:xfrm>
        </p:grpSpPr>
        <p:pic>
          <p:nvPicPr>
            <p:cNvPr id="1031" name="Picture 18">
              <a:extLst>
                <a:ext uri="{FF2B5EF4-FFF2-40B4-BE49-F238E27FC236}">
                  <a16:creationId xmlns:a16="http://schemas.microsoft.com/office/drawing/2014/main" id="{3CC347FE-3777-83A5-1E76-D46132A64C1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2" y="64"/>
              <a:ext cx="155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2" name="Picture 38">
              <a:extLst>
                <a:ext uri="{FF2B5EF4-FFF2-40B4-BE49-F238E27FC236}">
                  <a16:creationId xmlns:a16="http://schemas.microsoft.com/office/drawing/2014/main" id="{D6DF82F8-B326-0FE2-FD20-01A0F413561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014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29" name="Picture 14">
            <a:extLst>
              <a:ext uri="{FF2B5EF4-FFF2-40B4-BE49-F238E27FC236}">
                <a16:creationId xmlns:a16="http://schemas.microsoft.com/office/drawing/2014/main" id="{7958327B-932D-FAA7-BE79-5845F1C6F3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125538"/>
            <a:ext cx="1028700" cy="470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页脚占位符 5">
            <a:extLst>
              <a:ext uri="{FF2B5EF4-FFF2-40B4-BE49-F238E27FC236}">
                <a16:creationId xmlns:a16="http://schemas.microsoft.com/office/drawing/2014/main" id="{7A350FAD-DF3F-3398-F465-6A0C60113ED6}"/>
              </a:ext>
            </a:extLst>
          </p:cNvPr>
          <p:cNvSpPr txBox="1">
            <a:spLocks/>
          </p:cNvSpPr>
          <p:nvPr userDrawn="1"/>
        </p:nvSpPr>
        <p:spPr bwMode="auto">
          <a:xfrm>
            <a:off x="-4763" y="6619875"/>
            <a:ext cx="1589088" cy="238125"/>
          </a:xfrm>
          <a:prstGeom prst="rect">
            <a:avLst/>
          </a:prstGeom>
          <a:noFill/>
        </p:spPr>
        <p:txBody>
          <a:bodyPr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en-US" altLang="zh-CN" sz="1100" dirty="0">
                <a:latin typeface="Calibri" pitchFamily="34" charset="0"/>
              </a:rPr>
              <a:t>Confidential Information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670493" r:id="rId1"/>
    <p:sldLayoutId id="2147670482" r:id="rId2"/>
    <p:sldLayoutId id="2147670483" r:id="rId3"/>
    <p:sldLayoutId id="2147670484" r:id="rId4"/>
    <p:sldLayoutId id="2147670485" r:id="rId5"/>
    <p:sldLayoutId id="2147670486" r:id="rId6"/>
    <p:sldLayoutId id="2147670487" r:id="rId7"/>
    <p:sldLayoutId id="2147670488" r:id="rId8"/>
    <p:sldLayoutId id="2147670489" r:id="rId9"/>
    <p:sldLayoutId id="2147670490" r:id="rId10"/>
    <p:sldLayoutId id="2147670491" r:id="rId11"/>
    <p:sldLayoutId id="214767049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¡"/>
        <a:defRPr kumimoji="1"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anose="05000000000000000000" pitchFamily="2" charset="2"/>
        <a:buChar char="¡"/>
        <a:defRPr kumimoji="1"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19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kumimoji="1" sz="19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kumimoji="1" sz="19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kumimoji="1" sz="19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kumimoji="1" sz="19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kumimoji="1"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7818887-E2A1-EA44-5813-1F24EDCC2A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31800" y="1341438"/>
            <a:ext cx="8461375" cy="1143000"/>
          </a:xfrm>
        </p:spPr>
        <p:txBody>
          <a:bodyPr/>
          <a:lstStyle/>
          <a:p>
            <a:pPr algn="ctr" eaLnBrk="1" hangingPunct="1"/>
            <a:r>
              <a:rPr lang="en-US" altLang="zh-TW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Kobo ZHT F2 (</a:t>
            </a:r>
            <a:r>
              <a:rPr lang="zh-TW" altLang="en-US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正海 </a:t>
            </a:r>
            <a:r>
              <a:rPr lang="en-US" altLang="zh-TW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GF2) 11 (E-ink Gallery4) </a:t>
            </a:r>
            <a:br>
              <a:rPr lang="en-US" altLang="zh-TW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</a:br>
            <a:r>
              <a:rPr lang="zh-TW" altLang="en-US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模組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</a:t>
            </a:r>
            <a:r>
              <a:rPr lang="zh-TW" altLang="en-US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組</a:t>
            </a:r>
            <a:r>
              <a:rPr lang="en-US" altLang="zh-TW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_SPI </a:t>
            </a:r>
            <a:r>
              <a:rPr lang="zh-TW" altLang="en-US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無法通訊</a:t>
            </a:r>
            <a:b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</a:br>
            <a:r>
              <a:rPr lang="en-US" altLang="zh-TW" sz="2500" dirty="0">
                <a:ea typeface="標楷體" panose="03000509000000000000" pitchFamily="65" charset="-120"/>
              </a:rPr>
              <a:t>Fail Analysis Report</a:t>
            </a:r>
            <a:endParaRPr lang="zh-TW" altLang="en-US" sz="25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pic>
        <p:nvPicPr>
          <p:cNvPr id="5123" name="Picture 67">
            <a:extLst>
              <a:ext uri="{FF2B5EF4-FFF2-40B4-BE49-F238E27FC236}">
                <a16:creationId xmlns:a16="http://schemas.microsoft.com/office/drawing/2014/main" id="{DA0EA5BE-FC23-0C3A-C264-F8FC229FC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877" b="-186"/>
          <a:stretch>
            <a:fillRect/>
          </a:stretch>
        </p:blipFill>
        <p:spPr bwMode="auto">
          <a:xfrm>
            <a:off x="2449513" y="4873625"/>
            <a:ext cx="998537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7832439E-479E-E262-3C51-84407EBB6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5481638"/>
            <a:ext cx="3060700" cy="14398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TW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文鼎粗黑" pitchFamily="49" charset="-120"/>
              </a:rPr>
              <a:t>Prepared by: ELAN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TW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文鼎粗黑" pitchFamily="49" charset="-120"/>
              </a:rPr>
              <a:t>Date</a:t>
            </a:r>
            <a:r>
              <a:rPr lang="en-US" altLang="zh-TW"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文鼎粗黑" pitchFamily="49" charset="-120"/>
              </a:rPr>
              <a:t>: 2026/02/24</a:t>
            </a:r>
            <a:endParaRPr lang="en-US" altLang="zh-TW" sz="24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文鼎粗黑" pitchFamily="49" charset="-120"/>
            </a:endParaRP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ja-JP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itchFamily="34" charset="-128"/>
              </a:rPr>
              <a:t>Ver</a:t>
            </a:r>
            <a:r>
              <a:rPr lang="en-US" altLang="ja-JP"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itchFamily="34" charset="-128"/>
              </a:rPr>
              <a:t>. </a:t>
            </a:r>
            <a:r>
              <a:rPr lang="en-US" altLang="zh-TW"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itchFamily="34" charset="-128"/>
              </a:rPr>
              <a:t>1</a:t>
            </a:r>
            <a:endParaRPr lang="en-US" altLang="ja-JP" sz="24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50F90-096A-1B9B-30E5-85FFEE939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85E92AFF-E237-A453-40CC-7FCF1EA70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784225"/>
            <a:ext cx="676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8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kumimoji="1" sz="2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kumimoji="1" sz="2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u="sng" dirty="0">
                <a:solidFill>
                  <a:srgbClr val="0000CC"/>
                </a:solidFill>
                <a:latin typeface="Arial" panose="020B0604020202020204" pitchFamily="34" charset="0"/>
              </a:rPr>
              <a:t>D0: Symptom(s) / Emergency Response Action</a:t>
            </a:r>
          </a:p>
        </p:txBody>
      </p:sp>
      <p:sp>
        <p:nvSpPr>
          <p:cNvPr id="4099" name="Text Box 5">
            <a:extLst>
              <a:ext uri="{FF2B5EF4-FFF2-40B4-BE49-F238E27FC236}">
                <a16:creationId xmlns:a16="http://schemas.microsoft.com/office/drawing/2014/main" id="{53E5D7C0-0D0E-51B1-9B99-4E9B3E148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1075"/>
            <a:ext cx="9036050" cy="2172519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355600" indent="-355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  <a:defRPr kumimoji="1" sz="2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1pPr>
            <a:lvl2pPr marL="877888" indent="-3429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5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tx2"/>
              </a:buClr>
              <a:buSzPct val="65000"/>
              <a:buFont typeface="Wingdings" pitchFamily="2" charset="2"/>
              <a:buChar char="¡"/>
              <a:defRPr kumimoji="1" sz="22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u"/>
              <a:defRPr/>
            </a:pPr>
            <a:r>
              <a:rPr lang="en-US" altLang="zh-TW" sz="1800" dirty="0">
                <a:latin typeface="+mj-lt"/>
                <a:ea typeface="標楷體" panose="03000509000000000000" pitchFamily="65" charset="-120"/>
              </a:rPr>
              <a:t>Emergency Response </a:t>
            </a:r>
            <a:r>
              <a:rPr lang="en-US" altLang="zh-TW" sz="1800">
                <a:latin typeface="+mj-lt"/>
                <a:ea typeface="標楷體" panose="03000509000000000000" pitchFamily="65" charset="-120"/>
              </a:rPr>
              <a:t>Action</a:t>
            </a:r>
            <a:r>
              <a:rPr lang="zh-TW" altLang="en-US" sz="1800">
                <a:latin typeface="+mj-lt"/>
                <a:ea typeface="標楷體" panose="03000509000000000000" pitchFamily="65" charset="-120"/>
              </a:rPr>
              <a:t>：收到日期 </a:t>
            </a:r>
            <a:r>
              <a:rPr lang="en-US" altLang="zh-TW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2026</a:t>
            </a:r>
            <a:r>
              <a:rPr lang="zh-TW" altLang="en-US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/</a:t>
            </a:r>
            <a:r>
              <a:rPr lang="zh-TW" altLang="en-US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8</a:t>
            </a:r>
            <a:r>
              <a:rPr lang="zh-TW" altLang="en-US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/</a:t>
            </a:r>
            <a:r>
              <a:rPr lang="zh-TW" altLang="en-US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11</a:t>
            </a:r>
            <a:r>
              <a:rPr lang="zh-TW" altLang="en-US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 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客退模組樣品         </a:t>
            </a:r>
            <a:endParaRPr lang="zh-TW" altLang="en-US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TW" sz="1600" dirty="0">
                <a:latin typeface="+mj-lt"/>
                <a:ea typeface="標楷體" panose="03000509000000000000" pitchFamily="65" charset="-120"/>
              </a:rPr>
              <a:t>ELAN</a:t>
            </a:r>
            <a:r>
              <a:rPr lang="zh-TW" altLang="en-US" sz="1600" dirty="0"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 dirty="0">
                <a:latin typeface="+mj-lt"/>
                <a:ea typeface="標楷體" panose="03000509000000000000" pitchFamily="65" charset="-120"/>
              </a:rPr>
              <a:t>FAE </a:t>
            </a:r>
            <a:r>
              <a:rPr lang="zh-TW" altLang="en-US" sz="1600" dirty="0">
                <a:latin typeface="+mj-lt"/>
                <a:ea typeface="標楷體" panose="03000509000000000000" pitchFamily="65" charset="-120"/>
              </a:rPr>
              <a:t>確認結果如下：</a:t>
            </a: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AutoNum type="arabicPeriod"/>
              <a:defRPr/>
            </a:pP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AutoNum type="arabicPeriod"/>
              <a:defRPr/>
            </a:pP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AutoNum type="arabicPeriod"/>
              <a:defRPr/>
            </a:pP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AutoNum type="arabicPeriod"/>
              <a:defRPr/>
            </a:pP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AutoNum type="arabicPeriod"/>
              <a:defRPr/>
            </a:pP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5407A75-97B8-4FFC-87D9-DD67EA266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356177"/>
              </p:ext>
            </p:extLst>
          </p:nvPr>
        </p:nvGraphicFramePr>
        <p:xfrm>
          <a:off x="323528" y="1706731"/>
          <a:ext cx="8604956" cy="855595"/>
        </p:xfrm>
        <a:graphic>
          <a:graphicData uri="http://schemas.openxmlformats.org/drawingml/2006/table">
            <a:tbl>
              <a:tblPr/>
              <a:tblGrid>
                <a:gridCol w="1626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2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5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12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NO.</a:t>
                      </a:r>
                      <a:endParaRPr kumimoji="0" lang="zh-TW" altLang="zh-TW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客戶端反應</a:t>
                      </a:r>
                      <a:endParaRPr kumimoji="0" lang="zh-TW" altLang="zh-TW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確認項目</a:t>
                      </a:r>
                      <a:endParaRPr kumimoji="0" lang="zh-TW" altLang="zh-TW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異常樣品</a:t>
                      </a:r>
                      <a:endParaRPr kumimoji="0" lang="en-US" altLang="zh-TW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FKai-SB" panose="03000509000000000000" pitchFamily="65" charset="-120"/>
                          <a:cs typeface="Arial" panose="020B0604020202020204" pitchFamily="34" charset="0"/>
                        </a:rPr>
                        <a:t>SPI</a:t>
                      </a:r>
                      <a:r>
                        <a:rPr kumimoji="0" lang="zh-TW" altLang="en-US" sz="1200" b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FKai-SB" panose="03000509000000000000" pitchFamily="65" charset="-120"/>
                          <a:cs typeface="Arial" panose="020B0604020202020204" pitchFamily="34" charset="0"/>
                        </a:rPr>
                        <a:t>通訊失敗</a:t>
                      </a:r>
                      <a:endParaRPr kumimoji="0" lang="zh-TW" altLang="zh-TW"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DFKai-SB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CEC"/>
                    </a:solidFill>
                  </a:tcPr>
                </a:tc>
                <a:tc>
                  <a:txBody>
                    <a:bodyPr/>
                    <a:lstStyle>
                      <a:lvl1pPr marL="2286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17463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zh-TW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TOC RA </a:t>
                      </a:r>
                      <a:r>
                        <a:rPr kumimoji="0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儲存</a:t>
                      </a:r>
                      <a:r>
                        <a:rPr kumimoji="0" lang="en-US" altLang="zh-TW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(60℃,80%)</a:t>
                      </a:r>
                      <a:r>
                        <a:rPr kumimoji="0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，測試為通訊異常</a:t>
                      </a:r>
                      <a:endParaRPr kumimoji="0" lang="en-US" altLang="zh-TW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FFA3A743-0D8A-86E3-B09C-DF444134DB3E}"/>
              </a:ext>
            </a:extLst>
          </p:cNvPr>
          <p:cNvSpPr txBox="1"/>
          <p:nvPr/>
        </p:nvSpPr>
        <p:spPr>
          <a:xfrm>
            <a:off x="5606699" y="614400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TW" altLang="en-US" b="1">
                <a:ea typeface="標楷體" pitchFamily="65" charset="-120"/>
                <a:cs typeface="Arial" panose="020B0604020202020204" pitchFamily="34" charset="0"/>
              </a:rPr>
              <a:t>異常樣品反面</a:t>
            </a:r>
            <a:endParaRPr kumimoji="0" lang="en-US" altLang="zh-TW" b="1">
              <a:ea typeface="標楷體" pitchFamily="65" charset="-120"/>
              <a:cs typeface="Arial" panose="020B060402020202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E74C0B4-CE10-923F-333B-0E574BA0B079}"/>
              </a:ext>
            </a:extLst>
          </p:cNvPr>
          <p:cNvSpPr txBox="1"/>
          <p:nvPr/>
        </p:nvSpPr>
        <p:spPr>
          <a:xfrm>
            <a:off x="1679675" y="617801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TW" altLang="en-US" b="1">
                <a:ea typeface="標楷體" pitchFamily="65" charset="-120"/>
                <a:cs typeface="Arial" panose="020B0604020202020204" pitchFamily="34" charset="0"/>
              </a:rPr>
              <a:t>異常樣品正面</a:t>
            </a:r>
            <a:endParaRPr kumimoji="0" lang="en-US" altLang="zh-TW" b="1">
              <a:ea typeface="標楷體" pitchFamily="65" charset="-120"/>
              <a:cs typeface="Arial" panose="020B060402020202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6F24394-65FD-F6CB-C080-CE95EBF83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997" y="3730617"/>
            <a:ext cx="2725064" cy="216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C748A02-7D3E-712E-2AE5-CEEDDED81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649" y="3730617"/>
            <a:ext cx="2615712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979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6F1F8-5334-FEDD-1799-0618FCEF8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5FF44660-B3A4-B52D-2C9B-E6867C096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784225"/>
            <a:ext cx="676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8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kumimoji="1" sz="2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kumimoji="1" sz="2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u="sng" dirty="0">
                <a:solidFill>
                  <a:srgbClr val="0000CC"/>
                </a:solidFill>
                <a:latin typeface="Arial" panose="020B0604020202020204" pitchFamily="34" charset="0"/>
              </a:rPr>
              <a:t>D0: Symptom(s) / Emergency Response Action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E6205E18-D3A3-DBDA-97A7-C1DB1C0FD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1075"/>
            <a:ext cx="5184068" cy="37151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 marL="355600" indent="-355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  <a:defRPr kumimoji="1" sz="2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1pPr>
            <a:lvl2pPr marL="877888" indent="-3429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5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tx2"/>
              </a:buClr>
              <a:buSzPct val="65000"/>
              <a:buFont typeface="Wingdings" pitchFamily="2" charset="2"/>
              <a:buChar char="¡"/>
              <a:defRPr kumimoji="1" sz="22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9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None/>
            </a:pPr>
            <a:r>
              <a:rPr kumimoji="0" lang="zh-TW" altLang="en-US" sz="1800" b="1">
                <a:solidFill>
                  <a:srgbClr val="FFFFFF"/>
                </a:solidFill>
                <a:latin typeface="Arial" panose="020B0604020202020204" pitchFamily="34" charset="0"/>
                <a:ea typeface="標楷體" pitchFamily="65" charset="-120"/>
                <a:cs typeface="Arial" panose="020B0604020202020204" pitchFamily="34" charset="0"/>
              </a:rPr>
              <a:t>異常樣品</a:t>
            </a:r>
            <a:r>
              <a:rPr kumimoji="0" lang="en-US" altLang="zh-TW" sz="1800" b="1">
                <a:solidFill>
                  <a:srgbClr val="FFFFFF"/>
                </a:solidFill>
                <a:latin typeface="Arial" panose="020B0604020202020204" pitchFamily="34" charset="0"/>
                <a:ea typeface="標楷體" pitchFamily="65" charset="-120"/>
                <a:cs typeface="Arial" panose="020B0604020202020204" pitchFamily="34" charset="0"/>
              </a:rPr>
              <a:t>1</a:t>
            </a:r>
            <a:endParaRPr kumimoji="0" lang="en-US" altLang="zh-TW" sz="1800" b="1" dirty="0">
              <a:solidFill>
                <a:srgbClr val="FFFFFF"/>
              </a:solidFill>
              <a:latin typeface="Arial" panose="020B0604020202020204" pitchFamily="34" charset="0"/>
              <a:ea typeface="標楷體" pitchFamily="65" charset="-120"/>
              <a:cs typeface="Arial" panose="020B060402020202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7CEBF5E-1F1D-D44E-38E9-DBACD3492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779446"/>
              </p:ext>
            </p:extLst>
          </p:nvPr>
        </p:nvGraphicFramePr>
        <p:xfrm>
          <a:off x="4644008" y="1819177"/>
          <a:ext cx="2673669" cy="26855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1223">
                  <a:extLst>
                    <a:ext uri="{9D8B030D-6E8A-4147-A177-3AD203B41FA5}">
                      <a16:colId xmlns:a16="http://schemas.microsoft.com/office/drawing/2014/main" val="1882943093"/>
                    </a:ext>
                  </a:extLst>
                </a:gridCol>
                <a:gridCol w="891223">
                  <a:extLst>
                    <a:ext uri="{9D8B030D-6E8A-4147-A177-3AD203B41FA5}">
                      <a16:colId xmlns:a16="http://schemas.microsoft.com/office/drawing/2014/main" val="3250807605"/>
                    </a:ext>
                  </a:extLst>
                </a:gridCol>
                <a:gridCol w="891223">
                  <a:extLst>
                    <a:ext uri="{9D8B030D-6E8A-4147-A177-3AD203B41FA5}">
                      <a16:colId xmlns:a16="http://schemas.microsoft.com/office/drawing/2014/main" val="3116857519"/>
                    </a:ext>
                  </a:extLst>
                </a:gridCol>
              </a:tblGrid>
              <a:tr h="411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金手指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異常樣品</a:t>
                      </a: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zh-TW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OK</a:t>
                      </a:r>
                      <a:r>
                        <a:rPr lang="zh-TW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樣品</a:t>
                      </a:r>
                      <a:endParaRPr lang="zh-TW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199875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SPI_CS</a:t>
                      </a:r>
                      <a:endParaRPr lang="en-US" sz="12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770355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NRST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8950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47</a:t>
                      </a:r>
                      <a:r>
                        <a:rPr lang="el-GR" altLang="zh-TW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Ω</a:t>
                      </a:r>
                      <a:endParaRPr lang="en-US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237786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SPI_SCK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927520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SPI_MOSI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997842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SPI_MISO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18846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C9F30E99-CE94-4BD9-8A0D-8A2F792C4ACA}"/>
              </a:ext>
            </a:extLst>
          </p:cNvPr>
          <p:cNvSpPr txBox="1"/>
          <p:nvPr/>
        </p:nvSpPr>
        <p:spPr>
          <a:xfrm>
            <a:off x="5526207" y="460203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金手指對地量測</a:t>
            </a:r>
          </a:p>
        </p:txBody>
      </p:sp>
      <p:pic>
        <p:nvPicPr>
          <p:cNvPr id="9" name="圖片 8" descr="一張含有 文字, 圖表, 行, 螢幕擷取畫面 的圖片&#10;&#10;AI 產生的內容可能不正確。">
            <a:extLst>
              <a:ext uri="{FF2B5EF4-FFF2-40B4-BE49-F238E27FC236}">
                <a16:creationId xmlns:a16="http://schemas.microsoft.com/office/drawing/2014/main" id="{6DF21061-97FD-4EE3-2032-5D6638BB4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439" y="1902325"/>
            <a:ext cx="2772802" cy="196791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5E6F0205-8E69-A937-E990-C5A2F937B47E}"/>
              </a:ext>
            </a:extLst>
          </p:cNvPr>
          <p:cNvSpPr txBox="1"/>
          <p:nvPr/>
        </p:nvSpPr>
        <p:spPr>
          <a:xfrm>
            <a:off x="1993842" y="389302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金手指電路</a:t>
            </a: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B2B0B49E-FFF9-E7DE-D574-A15878C81EF4}"/>
              </a:ext>
            </a:extLst>
          </p:cNvPr>
          <p:cNvGrpSpPr/>
          <p:nvPr/>
        </p:nvGrpSpPr>
        <p:grpSpPr>
          <a:xfrm>
            <a:off x="1108869" y="4262359"/>
            <a:ext cx="3108774" cy="1993551"/>
            <a:chOff x="1043608" y="4393066"/>
            <a:chExt cx="3108774" cy="1993551"/>
          </a:xfrm>
        </p:grpSpPr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33147C0E-8524-62E9-08E2-C7C903D1B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3608" y="4393066"/>
              <a:ext cx="3108774" cy="1993551"/>
            </a:xfrm>
            <a:prstGeom prst="rect">
              <a:avLst/>
            </a:prstGeom>
          </p:spPr>
        </p:pic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AFDE07F3-6809-4A93-B20E-1388CA22FB46}"/>
                </a:ext>
              </a:extLst>
            </p:cNvPr>
            <p:cNvSpPr txBox="1"/>
            <p:nvPr/>
          </p:nvSpPr>
          <p:spPr>
            <a:xfrm>
              <a:off x="2771800" y="486916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1</a:t>
              </a:r>
              <a:endParaRPr lang="zh-TW" altLang="en-US"/>
            </a:p>
          </p:txBody>
        </p: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FE8DD723-2CEB-6FD2-3191-9C87CB88ACF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28253" y="5238492"/>
              <a:ext cx="0" cy="350748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>
              <a:prstShdw prst="shdw17" dist="17961" dir="2700000">
                <a:schemeClr val="bg2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cxn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6C3F3BC8-E1FA-3A0B-0823-0745BEC56E97}"/>
                </a:ext>
              </a:extLst>
            </p:cNvPr>
            <p:cNvSpPr txBox="1"/>
            <p:nvPr/>
          </p:nvSpPr>
          <p:spPr>
            <a:xfrm>
              <a:off x="2785728" y="557665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8</a:t>
              </a:r>
              <a:endParaRPr lang="zh-TW" altLang="en-US"/>
            </a:p>
          </p:txBody>
        </p:sp>
      </p:grp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C853FA8-49E8-A40C-C0B1-EB877FDD6F4D}"/>
              </a:ext>
            </a:extLst>
          </p:cNvPr>
          <p:cNvSpPr txBox="1"/>
          <p:nvPr/>
        </p:nvSpPr>
        <p:spPr>
          <a:xfrm>
            <a:off x="2167647" y="625591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實際金手指</a:t>
            </a:r>
          </a:p>
        </p:txBody>
      </p:sp>
    </p:spTree>
    <p:extLst>
      <p:ext uri="{BB962C8B-B14F-4D97-AF65-F5344CB8AC3E}">
        <p14:creationId xmlns:p14="http://schemas.microsoft.com/office/powerpoint/2010/main" val="1273689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04DA3-4F93-5B44-6E48-E4BE9A388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2E874389-1961-D173-0F5F-4D6697783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784225"/>
            <a:ext cx="676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8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kumimoji="1" sz="2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kumimoji="1" sz="2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u="sng" dirty="0">
                <a:solidFill>
                  <a:srgbClr val="0000CC"/>
                </a:solidFill>
                <a:latin typeface="Arial" panose="020B0604020202020204" pitchFamily="34" charset="0"/>
              </a:rPr>
              <a:t>D0: Symptom(s) / Emergency Response Action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64912EA0-5042-07DB-5D9A-0BD221ED4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1075"/>
            <a:ext cx="5472100" cy="158267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 marL="355600" indent="-355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  <a:defRPr kumimoji="1" sz="2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1pPr>
            <a:lvl2pPr marL="877888" indent="-3429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5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tx2"/>
              </a:buClr>
              <a:buSzPct val="65000"/>
              <a:buFont typeface="Wingdings" pitchFamily="2" charset="2"/>
              <a:buChar char="¡"/>
              <a:defRPr kumimoji="1" sz="22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u"/>
              <a:defRPr/>
            </a:pPr>
            <a:r>
              <a:rPr lang="en-US" altLang="zh-TW" sz="1800" dirty="0">
                <a:latin typeface="+mj-lt"/>
                <a:ea typeface="標楷體" panose="03000509000000000000" pitchFamily="65" charset="-120"/>
              </a:rPr>
              <a:t>Emergency Response Action</a:t>
            </a:r>
            <a:r>
              <a:rPr lang="zh-TW" altLang="en-US" sz="1800" dirty="0">
                <a:latin typeface="+mj-lt"/>
                <a:ea typeface="標楷體" panose="03000509000000000000" pitchFamily="65" charset="-120"/>
              </a:rPr>
              <a:t>：</a:t>
            </a:r>
            <a:endParaRPr lang="zh-TW" altLang="en-US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TW" altLang="en-US" sz="1600">
                <a:latin typeface="Arial" panose="020B0604020202020204" pitchFamily="34" charset="0"/>
                <a:ea typeface="標楷體" pitchFamily="65" charset="-120"/>
                <a:cs typeface="Arial" panose="020B0604020202020204" pitchFamily="34" charset="0"/>
              </a:rPr>
              <a:t>異常樣品  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ELAN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FAE 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確認結果如下：</a:t>
            </a:r>
            <a:endParaRPr lang="en-US" altLang="zh-TW" sz="160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+mj-lt"/>
              <a:buAutoNum type="arabicPeriod"/>
              <a:defRPr/>
            </a:pPr>
            <a:r>
              <a:rPr lang="zh-TW" altLang="en-US" sz="1600">
                <a:latin typeface="+mj-lt"/>
                <a:ea typeface="標楷體" panose="03000509000000000000" pitchFamily="65" charset="-120"/>
              </a:rPr>
              <a:t>移除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INT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保護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TVS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，短路現象依舊存在。</a:t>
            </a:r>
            <a:endParaRPr lang="en-US" altLang="zh-TW" sz="160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+mj-lt"/>
              <a:buAutoNum type="arabicPeriod"/>
              <a:defRPr/>
            </a:pPr>
            <a:r>
              <a:rPr lang="zh-TW" altLang="en-US" sz="1600">
                <a:latin typeface="+mj-lt"/>
                <a:ea typeface="標楷體" panose="03000509000000000000" pitchFamily="65" charset="-120"/>
              </a:rPr>
              <a:t>移除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Touch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IC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後，對地短路現象消失。</a:t>
            </a:r>
            <a:endParaRPr lang="en-US" altLang="zh-TW" sz="160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+mj-lt"/>
              <a:buAutoNum type="arabicPeriod"/>
              <a:defRPr/>
            </a:pPr>
            <a:r>
              <a:rPr lang="zh-TW" altLang="en-US" sz="1600">
                <a:ea typeface="標楷體" panose="03000509000000000000" pitchFamily="65" charset="-120"/>
              </a:rPr>
              <a:t>直接量測</a:t>
            </a:r>
            <a:r>
              <a:rPr lang="en-US" altLang="zh-TW" sz="1600">
                <a:ea typeface="標楷體" panose="03000509000000000000" pitchFamily="65" charset="-120"/>
              </a:rPr>
              <a:t>IC pad INT</a:t>
            </a:r>
            <a:r>
              <a:rPr lang="zh-TW" altLang="en-US" sz="1600">
                <a:ea typeface="標楷體" panose="03000509000000000000" pitchFamily="65" charset="-120"/>
              </a:rPr>
              <a:t> 對地阻值為 </a:t>
            </a:r>
            <a:r>
              <a:rPr lang="en-US" altLang="zh-TW" sz="1600">
                <a:ea typeface="標楷體" panose="03000509000000000000" pitchFamily="65" charset="-120"/>
              </a:rPr>
              <a:t>58</a:t>
            </a:r>
            <a:r>
              <a:rPr lang="el-GR" altLang="zh-TW" sz="16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Ω</a:t>
            </a:r>
            <a:r>
              <a:rPr lang="zh-TW" altLang="en-US" sz="16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72536F59-9E0B-E6BF-E4AA-E6D203FC3DC1}"/>
              </a:ext>
            </a:extLst>
          </p:cNvPr>
          <p:cNvSpPr/>
          <p:nvPr/>
        </p:nvSpPr>
        <p:spPr bwMode="auto">
          <a:xfrm>
            <a:off x="6284532" y="5101408"/>
            <a:ext cx="288032" cy="540060"/>
          </a:xfrm>
          <a:prstGeom prst="roundRect">
            <a:avLst/>
          </a:prstGeom>
          <a:noFill/>
          <a:ln w="5715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48233A16-8E2D-870D-576F-1ADC416F1843}"/>
              </a:ext>
            </a:extLst>
          </p:cNvPr>
          <p:cNvGrpSpPr/>
          <p:nvPr/>
        </p:nvGrpSpPr>
        <p:grpSpPr>
          <a:xfrm>
            <a:off x="755576" y="2571627"/>
            <a:ext cx="3600400" cy="1289421"/>
            <a:chOff x="755576" y="3909624"/>
            <a:chExt cx="4032448" cy="1588822"/>
          </a:xfrm>
        </p:grpSpPr>
        <p:pic>
          <p:nvPicPr>
            <p:cNvPr id="8" name="圖片 7" descr="一張含有 圖表, 寫生, 工程製圖 的圖片&#10;&#10;AI 產生的內容可能不正確。">
              <a:extLst>
                <a:ext uri="{FF2B5EF4-FFF2-40B4-BE49-F238E27FC236}">
                  <a16:creationId xmlns:a16="http://schemas.microsoft.com/office/drawing/2014/main" id="{3BD97239-4621-D671-C1D9-7FBD100CE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5576" y="3969061"/>
              <a:ext cx="4032448" cy="1285282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AB766AD-A8A8-BA78-465A-190B813BF62E}"/>
                </a:ext>
              </a:extLst>
            </p:cNvPr>
            <p:cNvSpPr/>
            <p:nvPr/>
          </p:nvSpPr>
          <p:spPr bwMode="auto">
            <a:xfrm>
              <a:off x="1979712" y="3909624"/>
              <a:ext cx="627729" cy="1404156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700000">
                <a:schemeClr val="bg2"/>
              </a:prst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AD0BC7E7-53F4-D3F2-6D96-AA1D6B198B7B}"/>
                </a:ext>
              </a:extLst>
            </p:cNvPr>
            <p:cNvSpPr txBox="1"/>
            <p:nvPr/>
          </p:nvSpPr>
          <p:spPr>
            <a:xfrm>
              <a:off x="3243472" y="5129114"/>
              <a:ext cx="1095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>
                  <a:solidFill>
                    <a:srgbClr val="FF0000"/>
                  </a:solidFill>
                  <a:highlight>
                    <a:srgbClr val="000000"/>
                  </a:highlight>
                </a:rPr>
                <a:t>移除</a:t>
              </a:r>
              <a:r>
                <a:rPr lang="en-US" altLang="zh-TW" b="1">
                  <a:solidFill>
                    <a:srgbClr val="FF0000"/>
                  </a:solidFill>
                  <a:highlight>
                    <a:srgbClr val="000000"/>
                  </a:highlight>
                </a:rPr>
                <a:t>TVS</a:t>
              </a:r>
              <a:endParaRPr lang="zh-TW" altLang="en-US" b="1">
                <a:solidFill>
                  <a:srgbClr val="FF0000"/>
                </a:solidFill>
                <a:highlight>
                  <a:srgbClr val="000000"/>
                </a:highlight>
              </a:endParaRP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04B994C2-3126-35AD-400D-364F2FF53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522691" y="3883432"/>
            <a:ext cx="2362530" cy="2476846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F5372C81-DD24-6B8F-E0D8-4A4B2C036FE4}"/>
              </a:ext>
            </a:extLst>
          </p:cNvPr>
          <p:cNvSpPr txBox="1"/>
          <p:nvPr/>
        </p:nvSpPr>
        <p:spPr>
          <a:xfrm>
            <a:off x="6019195" y="312598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拆除後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單體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B3BF304-C812-EA00-CB2C-A416AF727532}"/>
              </a:ext>
            </a:extLst>
          </p:cNvPr>
          <p:cNvSpPr txBox="1"/>
          <p:nvPr/>
        </p:nvSpPr>
        <p:spPr>
          <a:xfrm>
            <a:off x="1770946" y="6254884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拆除後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TVS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FPCa</a:t>
            </a:r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3B5EA5BC-CD32-132E-CE49-1DD43CF50688}"/>
              </a:ext>
            </a:extLst>
          </p:cNvPr>
          <p:cNvSpPr txBox="1"/>
          <p:nvPr/>
        </p:nvSpPr>
        <p:spPr>
          <a:xfrm>
            <a:off x="5345178" y="6254884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拆除後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IC 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FPCa</a:t>
            </a:r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A0667EB-668A-69F7-A542-8E3AF3265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5193768" y="3883432"/>
            <a:ext cx="2181529" cy="247684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E6860EE-853A-8FA9-8401-7EDFCA149F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583376" y="1100577"/>
            <a:ext cx="1931240" cy="211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37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>
            <a:extLst>
              <a:ext uri="{FF2B5EF4-FFF2-40B4-BE49-F238E27FC236}">
                <a16:creationId xmlns:a16="http://schemas.microsoft.com/office/drawing/2014/main" id="{61FA3D07-1BEF-7DA3-5430-E28CDACA5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1075"/>
            <a:ext cx="9036050" cy="69711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355600" indent="-355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  <a:defRPr kumimoji="1" sz="2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1pPr>
            <a:lvl2pPr marL="877888" indent="-3429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5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tx2"/>
              </a:buClr>
              <a:buSzPct val="65000"/>
              <a:buFont typeface="Wingdings" pitchFamily="2" charset="2"/>
              <a:buChar char="¡"/>
              <a:defRPr kumimoji="1" sz="22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u"/>
              <a:defRPr/>
            </a:pPr>
            <a:r>
              <a:rPr lang="en-US" altLang="zh-TW" sz="1800" dirty="0">
                <a:latin typeface="+mj-lt"/>
                <a:ea typeface="標楷體" panose="03000509000000000000" pitchFamily="65" charset="-120"/>
              </a:rPr>
              <a:t>Emergency Response Action</a:t>
            </a:r>
            <a:r>
              <a:rPr lang="zh-TW" altLang="en-US" sz="1800" dirty="0">
                <a:latin typeface="+mj-lt"/>
                <a:ea typeface="標楷體" panose="03000509000000000000" pitchFamily="65" charset="-120"/>
              </a:rPr>
              <a:t>：</a:t>
            </a:r>
            <a:endParaRPr lang="en-US" altLang="zh-TW" sz="18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TW" altLang="en-US" sz="1600">
                <a:latin typeface="+mj-lt"/>
                <a:ea typeface="標楷體" panose="03000509000000000000" pitchFamily="65" charset="-120"/>
              </a:rPr>
              <a:t>推測為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IC INT/MISO I/O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損傷造成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SPI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通訊失敗</a:t>
            </a: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7020316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FA 基本資訊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7909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FA 編號: FA-260811-001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02674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2674"/>
            <a:ext cx="7909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負責工程師: ELAN FAE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25188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25188"/>
            <a:ext cx="7909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客戶: Kobo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47702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47702"/>
            <a:ext cx="7909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專案名稱: ZHT RA6080 SPcomFailI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70217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70217"/>
            <a:ext cx="7909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報告日期: 2026/08/11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92731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92731"/>
            <a:ext cx="7909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失效數量: 依評核建議補充填寫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15245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15245"/>
            <a:ext cx="7909560" cy="522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批號 (Lot No.): 依評核建議補充填寫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b="1" sz="1400">
                <a:solidFill>
                  <a:srgbClr val="FF0000"/>
                </a:solidFill>
              </a:defRPr>
            </a:pPr>
            <a:r>
              <a:t>[優化建議項目]</a:t>
            </a:r>
          </a:p>
          <a:p>
            <a:pPr>
              <a:defRPr sz="1200"/>
            </a:pPr>
            <a:r>
              <a:t>• 提供了產品型號、日期與準備者，但缺乏具體的批號(Lot No.)、失效數量(Failure Quantity)以及明確的客戶名稱。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分析方法與流程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D1: 建立團隊(FAE/QRA/PM)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945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945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D2: 描述問題(5W2H)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8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88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D3: 圍堵行動(Containment)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232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232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D4: 根因分析(5-Why/Fishbone)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D5: 永久對策(PCA)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519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519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D6: 實施與驗證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662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662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D7: 再發防止(SOP/防呆)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806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806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70AD47"/>
                </a:solidFill>
              </a:rPr>
              <a:t>D8: 團隊表揚與經驗傳承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389120" y="1280160"/>
          <a:ext cx="4297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</a:tblGrid>
              <a:tr h="4572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適用場景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備註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光學檢查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外部損傷、燒毀痕跡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快速、低成本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SEM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晶片內部結構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需真空環境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FIB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橫截面分析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破壞性測試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X-ray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封裝裂縫、空洞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非破壞性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Decap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開蓋檢查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化學蝕刻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TDR/示波器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訊號完整性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時域反射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XRD/EDX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材料分析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成分鑑定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ESD 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靜電耐受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HBM/CDM 模型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數據與證據支持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8738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測試項目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DVT 正常品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PVT 異常品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Spec 範圍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判定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ESD HBM (±2kV)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通過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±2kV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需補測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I/O 對地阻抗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16MΩ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5.7KΩ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&gt;1MΩ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VH/VOUT 電壓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0.4-0.6V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二極體特性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0.43V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0.4-0.6V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FW 讀取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PASS</a:t>
                      </a:r>
                    </a:p>
                  </a:txBody>
                  <a:tcPr/>
                </a:tc>
              </a:tr>
              <a:tr h="287388">
                <a:tc>
                  <a:txBody>
                    <a:bodyPr/>
                    <a:lstStyle/>
                    <a:p>
                      <a:r>
                        <a:rPr sz="1000"/>
                        <a:t>外觀檢查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無損傷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5661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7909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圖片解析度 ≥ 1000x(建議 ≥ 2000x 以利 IC Marking 辨識)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7909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對焦清晰,IC 標籤、Marking 可清楚辨識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7909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含比例尺(scale bar),方便評估損傷範圍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6344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7909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異常點明確標註(箭頭、方框、文字說明)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29200"/>
            <a:ext cx="7909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對照組(Golden Sample)與異常品並列比較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949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94960"/>
            <a:ext cx="7909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每個量化數據有來源追溯(儀器型號、測試條件、日期)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60720"/>
            <a:ext cx="7909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70AD47"/>
                </a:solidFill>
              </a:rPr>
              <a:t>統計顯著性(p-value、CI)支援結論(非僅描述)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5-Why 根因推導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0"/>
            <a:ext cx="14630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採用了排除法(移除TVS、移除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6596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94560" y="4114800"/>
            <a:ext cx="14630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結論僅停留在「推測」為I/O損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1188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4114800"/>
            <a:ext cx="14630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1: 表層現象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5780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0" y="4114800"/>
            <a:ext cx="14630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2: 直接原因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0372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0" y="4114800"/>
            <a:ext cx="14630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3: 間接原因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為什麼需要 5-Why:</a:t>
            </a:r>
          </a:p>
          <a:p>
            <a:pPr>
              <a:defRPr sz="1400"/>
            </a:pPr>
            <a:r>
              <a:t>採用了排除法(移除TVS、移除IC)進行初步分析，邏輯尚屬合理，但缺乏更深層的物理分析(如SEM或X-ray)來確認IC內部的損傷機制。</a:t>
            </a:r>
          </a:p>
          <a:p>
            <a:pPr>
              <a:defRPr sz="1400"/>
            </a:pPr>
            <a:r>
              <a:t>結論僅停留在「推測」為I/O損傷，缺乏因果關係的深度分析。未說明為何會造成損傷(如ESD、過電壓或生產製程問題)，未應用5-Why分析。</a:t>
            </a:r>
          </a:p>
          <a:p>
            <a:br/>
            <a:pPr>
              <a:defRPr b="1"/>
            </a:pPr>
            <a:r>
              <a:t>[推導流程]</a:t>
            </a:r>
          </a:p>
          <a:p>
            <a:pPr>
              <a:defRPr sz="1200"/>
            </a:pPr>
            <a:r>
              <a:t>• 設定 DVT 正常品 vs PVT 異常品之對照組</a:t>
            </a:r>
          </a:p>
          <a:p>
            <a:pPr>
              <a:defRPr sz="1200"/>
            </a:pPr>
            <a:r>
              <a:t>• 使用獨立樣本 t 檢定驗證參數顯著性 (p &lt; 0.05)</a:t>
            </a:r>
          </a:p>
          <a:p>
            <a:pPr>
              <a:defRPr sz="1200"/>
            </a:pPr>
            <a:r>
              <a:t>• 確保統計證據支持最終提到的根本原因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根因驗證及統計分析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針對問題點之深度分析建議:</a:t>
            </a:r>
          </a:p>
          <a:p>
            <a:pPr>
              <a:defRPr sz="1400"/>
            </a:pPr>
            <a:r>
              <a:t>採用了排除法(移除TVS、移除IC)進行初步分析，邏輯尚屬合理，但缺乏更深層的物理分析(如SEM或X-ray)來確認IC內部的損傷機制。</a:t>
            </a:r>
          </a:p>
          <a:p>
            <a:pPr>
              <a:defRPr sz="1400"/>
            </a:pPr>
            <a:r>
              <a:t>結論僅停留在「推測」為I/O損傷，缺乏因果關係的深度分析。未說明為何會造成損傷(如ESD、過電壓或生產製程問題)，未應用5-Why分析。</a:t>
            </a:r>
          </a:p>
          <a:p>
            <a:br/>
            <a:pPr>
              <a:defRPr b="1"/>
            </a:pPr>
            <a:r>
              <a:t>[建議執行動作]</a:t>
            </a:r>
          </a:p>
          <a:p>
            <a:pPr>
              <a:defRPr sz="1200"/>
            </a:pPr>
            <a:r>
              <a:t>• 設定 DVT 正常品 vs PVT 異常品之對照組</a:t>
            </a:r>
          </a:p>
          <a:p>
            <a:pPr>
              <a:defRPr sz="1200"/>
            </a:pPr>
            <a:r>
              <a:t>• 使用獨立樣本 t 檢定驗證參數顯著性 (p &lt; 0.05)</a:t>
            </a:r>
          </a:p>
          <a:p>
            <a:pPr>
              <a:defRPr sz="1200"/>
            </a:pPr>
            <a:r>
              <a:t>• 確保統計證據支持最終提到的根本原因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長期預防措施與改善對策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7724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擬議改善對策項目:</a:t>
            </a:r>
          </a:p>
          <a:p>
            <a:pPr>
              <a:defRPr sz="1400"/>
            </a:pPr>
            <a:r>
              <a:t>提供了產品型號、日期與準備者，但缺乏具體的批號(Lot No.)、失效數量(Failure Quantity)以及明確的客戶名稱。</a:t>
            </a:r>
          </a:p>
          <a:p>
            <a:pPr>
              <a:defRPr sz="1400"/>
            </a:pPr>
            <a:r>
              <a:t>失效現象描述清楚(SPI無法通訊)，並提供了金手指對地的量測數據，但缺乏失效率(Failure Rate)的統計數據。</a:t>
            </a:r>
          </a:p>
          <a:p>
            <a:pPr>
              <a:defRPr sz="1400"/>
            </a:pPr>
            <a:r>
              <a:t>採用了排除法(移除TVS、移除IC)進行初步分析，邏輯尚屬合理，但缺乏更深層的物理分析(如SEM或X-ray)來確認IC內部的損傷機制。</a:t>
            </a:r>
          </a:p>
          <a:p>
            <a:br/>
            <a:pPr>
              <a:defRPr b="1"/>
            </a:pPr>
            <a:r>
              <a:t>[標準化與監測計畫]</a:t>
            </a:r>
          </a:p>
          <a:p>
            <a:pPr>
              <a:defRPr sz="1200"/>
            </a:pPr>
            <a:r>
              <a:t>• 建立入料檢驗 (IQC) SOP 與測試閾值</a:t>
            </a:r>
          </a:p>
          <a:p>
            <a:pPr>
              <a:defRPr sz="1200"/>
            </a:pPr>
            <a:r>
              <a:t>• 導入自動化監測設備於生產線</a:t>
            </a:r>
          </a:p>
          <a:p>
            <a:pPr>
              <a:defRPr sz="1200"/>
            </a:pPr>
            <a:r>
              <a:t>• 將此案例納入知識管理資料庫以利後續追蹤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669280"/>
            <a:ext cx="8229600" cy="9144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5920" y="5532120"/>
            <a:ext cx="365760" cy="365760"/>
          </a:xfrm>
          <a:prstGeom prst="ellips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</a:rPr>
              <a:t>短期 (&lt; 1 個月)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D+0 ~ D+30</a:t>
            </a:r>
          </a:p>
        </p:txBody>
      </p:sp>
      <p:sp>
        <p:nvSpPr>
          <p:cNvPr id="10" name="Oval 9"/>
          <p:cNvSpPr/>
          <p:nvPr/>
        </p:nvSpPr>
        <p:spPr>
          <a:xfrm>
            <a:off x="4389120" y="5532120"/>
            <a:ext cx="365760" cy="365760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</a:rPr>
              <a:t>中期 (1-3 個月)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D+30 ~ D+90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5532120"/>
            <a:ext cx="365760" cy="365760"/>
          </a:xfrm>
          <a:prstGeom prst="ellips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0AD47"/>
                </a:solidFill>
              </a:rPr>
              <a:t>長期 (&gt; 3 個月)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D+90 ~ D+180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IQC 入料檢驗標準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檢驗項目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抽驗比例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允收標準 (AQL)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不合格處置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外觀檢查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AQL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MIL-STD-105E Level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退貨重工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尺寸量測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±0.05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隔離/特採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電性測試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全數測試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退貨/報廢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X-ray 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無空洞、裂痕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重工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DPA 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pcs/批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結構完整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新增的標準化對照表,提供 IQC 抽驗比例與 KM 監測頻率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監測與知識管理 (KM)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頻率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負責單位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產出文件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KMS 登錄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每案結案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KM 文件編號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失效資料庫更新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失效資料庫月報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跨部門分享會議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會議紀錄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同類型失效再發監測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失效趨勢分析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SOP 改版提案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每半年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製程工程師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SOP 改版單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新增的標準化對照表,提供 IQC 抽驗比例與 KM 監測頻率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本報告完成了初步的失效定位(Localization)，確認故障點位於Touch IC的INT/MISO引腳，但尚未達到正式FA報告的深度。報告最大的問題在於「僅有推測，缺乏根因」以及「完全沒有對策」。目前的結論僅能說「壞在哪裡」，無法說明「為什麼壞」以及「如何不再發生」。建議補足物理分析證據，並根據根因制定完整的改善與驗證計畫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97280" y="274320"/>
            <a:ext cx="7589520" cy="77724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Key Improvements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sz="1300">
                <a:solidFill>
                  <a:srgbClr val="0070C0"/>
                </a:solidFill>
              </a:defRPr>
            </a:pPr>
            <a:r>
              <a:t>• 提供了產品型號、日期與準備者，但缺乏具體的批號(Lot No.)、失效數量(Failure Quantity)以及明確的客戶名稱。</a:t>
            </a:r>
          </a:p>
          <a:p>
            <a:pPr>
              <a:defRPr sz="1300">
                <a:solidFill>
                  <a:srgbClr val="0070C0"/>
                </a:solidFill>
              </a:defRPr>
            </a:pPr>
            <a:r>
              <a:t>• 失效現象描述清楚(SPI無法通訊)，並提供了金手指對地的量測數據，但缺乏失效率(Failure Rate)的統計數據。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採用了排除法(移除TVS、移除IC)進行初步分析，邏輯尚屬合理，但缺乏更深層的物理分析(如SEM或X-ray)來確認IC內部的損傷機制。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提供了金手指量測表與電路圖，但圖片解析度較低，且缺乏對比組(Golden Sample)的量測數據來佐證異常。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結論僅停留在「推測」為I/O損傷，缺乏因果關係的深度分析。未說明為何會造成損傷(如ESD、過電壓或生產製程問題)，未應用5-Why分析。</a:t>
            </a:r>
          </a:p>
          <a:p>
            <a:pPr>
              <a:defRPr sz="1300">
                <a:solidFill>
                  <a:srgbClr val="0070C0"/>
                </a:solidFill>
              </a:defRPr>
            </a:pPr>
            <a:r>
              <a:t>• 報告中完全缺失改善對策、預防措施與驗證計畫。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lipse">
  <a:themeElements>
    <a:clrScheme name="Eclipse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Eclipse">
      <a:majorFont>
        <a:latin typeface="Arial"/>
        <a:ea typeface="新細明體"/>
        <a:cs typeface=""/>
      </a:majorFont>
      <a:minorFont>
        <a:latin typeface="Verdan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bg2"/>
          </a:prstShdw>
        </a:effectLst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bg2"/>
          </a:prstShdw>
        </a:effectLst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Eclipse</Template>
  <TotalTime>123434</TotalTime>
  <Words>248</Words>
  <Application>Microsoft Office PowerPoint</Application>
  <PresentationFormat>如螢幕大小 (4:3)</PresentationFormat>
  <Paragraphs>58</Paragraphs>
  <Slides>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4" baseType="lpstr">
      <vt:lpstr>MS PGothic</vt:lpstr>
      <vt:lpstr>文鼎粗黑</vt:lpstr>
      <vt:lpstr>標楷體</vt:lpstr>
      <vt:lpstr>Arial</vt:lpstr>
      <vt:lpstr>Calibri</vt:lpstr>
      <vt:lpstr>Times New Roman</vt:lpstr>
      <vt:lpstr>Verdana</vt:lpstr>
      <vt:lpstr>Wingdings</vt:lpstr>
      <vt:lpstr>Eclipse</vt:lpstr>
      <vt:lpstr>Kobo ZHT F2 (正海 GF2) 11 (E-ink Gallery4)  模組2組_SPI 無法通訊 Fail Analysis Report</vt:lpstr>
      <vt:lpstr>PowerPoint 簡報</vt:lpstr>
      <vt:lpstr>PowerPoint 簡報</vt:lpstr>
      <vt:lpstr>PowerPoint 簡報</vt:lpstr>
      <vt:lpstr>PowerPoint 簡報</vt:lpstr>
    </vt:vector>
  </TitlesOfParts>
  <Company>Elan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DSP team</dc:creator>
  <cp:lastModifiedBy>Zhaochuan Wu 吳兆川</cp:lastModifiedBy>
  <cp:revision>4475</cp:revision>
  <dcterms:created xsi:type="dcterms:W3CDTF">2004-02-25T06:28:30Z</dcterms:created>
  <dcterms:modified xsi:type="dcterms:W3CDTF">2026-08-14T01:15:21Z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000800f40d0000000000010251600207f7000400038000</vt:lpwstr>
  </property>
</Properties>
</file>